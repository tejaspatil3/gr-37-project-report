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6"/>
  </p:notesMasterIdLst>
  <p:sldIdLst>
    <p:sldId id="256" r:id="rId2"/>
    <p:sldId id="258" r:id="rId3"/>
    <p:sldId id="259" r:id="rId4"/>
    <p:sldId id="257" r:id="rId5"/>
    <p:sldId id="260" r:id="rId6"/>
    <p:sldId id="261" r:id="rId7"/>
    <p:sldId id="262" r:id="rId8"/>
    <p:sldId id="274" r:id="rId9"/>
    <p:sldId id="263" r:id="rId10"/>
    <p:sldId id="273" r:id="rId11"/>
    <p:sldId id="264" r:id="rId12"/>
    <p:sldId id="265" r:id="rId13"/>
    <p:sldId id="266" r:id="rId14"/>
    <p:sldId id="267" r:id="rId15"/>
    <p:sldId id="268" r:id="rId16"/>
    <p:sldId id="269" r:id="rId17"/>
    <p:sldId id="270" r:id="rId18"/>
    <p:sldId id="271" r:id="rId19"/>
    <p:sldId id="275" r:id="rId20"/>
    <p:sldId id="276" r:id="rId21"/>
    <p:sldId id="277" r:id="rId22"/>
    <p:sldId id="278" r:id="rId23"/>
    <p:sldId id="279"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E82F0-4569-4028-B404-AB2F51C0FC9A}"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7D11D-31AD-478F-9AF7-A9F247A5E6F7}" type="slidenum">
              <a:rPr lang="en-IN" smtClean="0"/>
              <a:t>‹#›</a:t>
            </a:fld>
            <a:endParaRPr lang="en-IN"/>
          </a:p>
        </p:txBody>
      </p:sp>
    </p:spTree>
    <p:extLst>
      <p:ext uri="{BB962C8B-B14F-4D97-AF65-F5344CB8AC3E}">
        <p14:creationId xmlns:p14="http://schemas.microsoft.com/office/powerpoint/2010/main" val="200229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487D11D-31AD-478F-9AF7-A9F247A5E6F7}" type="slidenum">
              <a:rPr lang="en-IN" smtClean="0"/>
              <a:t>1</a:t>
            </a:fld>
            <a:endParaRPr lang="en-IN"/>
          </a:p>
        </p:txBody>
      </p:sp>
    </p:spTree>
    <p:extLst>
      <p:ext uri="{BB962C8B-B14F-4D97-AF65-F5344CB8AC3E}">
        <p14:creationId xmlns:p14="http://schemas.microsoft.com/office/powerpoint/2010/main" val="179567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221F1E-EB91-4745-9951-7D1F6ABADE85}"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1FBF55-3445-4B1D-B547-CFEC6D78AAD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061D99-07A8-4ACE-A2BE-049CAE947920}"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781B0A-4605-4A12-AFCB-DEA982E20756}"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229E9D1-08E5-4B3A-88BB-8CB80D878819}"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98DC126-660E-4A97-A74C-31B4D04EBFBE}"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687154-35E0-4D22-B050-7B1C739F2762}" type="datetime1">
              <a:rPr lang="en-US" smtClean="0"/>
              <a:t>11/11/2025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3B51560-DA84-41CC-8915-1C6CDBC481D3}" type="datetime1">
              <a:rPr lang="en-US" smtClean="0"/>
              <a:t>11/11/2025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505438-3AE7-4F4D-90BB-9ADEC9E53550}"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7FE09C-D193-40BF-88FF-8AD4CCF1F4A2}"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8047F4-5501-426C-8B40-2286A2D1719C}"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11A0922-943D-43FD-B141-FC04E791700B}" type="datetime1">
              <a:rPr lang="en-US" smtClean="0"/>
              <a:t>11/11/2025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9698990" y="79754"/>
            <a:ext cx="2493010" cy="1282065"/>
          </a:xfrm>
          <a:prstGeom prst="rect">
            <a:avLst/>
          </a:prstGeom>
        </p:spPr>
      </p:pic>
      <p:sp>
        <p:nvSpPr>
          <p:cNvPr id="3" name="Rectangle 2"/>
          <p:cNvSpPr/>
          <p:nvPr/>
        </p:nvSpPr>
        <p:spPr>
          <a:xfrm>
            <a:off x="-127000" y="79754"/>
            <a:ext cx="11566357" cy="954107"/>
          </a:xfrm>
          <a:prstGeom prst="rect">
            <a:avLst/>
          </a:prstGeom>
        </p:spPr>
        <p:txBody>
          <a:bodyPr wrap="square">
            <a:spAutoFit/>
          </a:bodyPr>
          <a:lstStyle/>
          <a:p>
            <a:pPr marL="717584" algn="ctr">
              <a:spcBef>
                <a:spcPts val="1020"/>
              </a:spcBef>
              <a:tabLst>
                <a:tab pos="10047758" algn="l"/>
              </a:tabLst>
            </a:pPr>
            <a:r>
              <a:rPr lang="en-US" sz="2800" b="1" dirty="0">
                <a:latin typeface="Times New Roman" panose="02020603050405020304" pitchFamily="18" charset="0"/>
                <a:cs typeface="Times New Roman" panose="02020603050405020304" pitchFamily="18" charset="0"/>
              </a:rPr>
              <a:t>Sinhgad College of Engineering</a:t>
            </a: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Department of Computer Engineering</a:t>
            </a:r>
            <a:endParaRPr lang="en-IN" spc="-1" dirty="0">
              <a:latin typeface="Times New Roman" panose="02020603050405020304" pitchFamily="18" charset="0"/>
              <a:cs typeface="Times New Roman" panose="02020603050405020304" pitchFamily="18" charset="0"/>
            </a:endParaRPr>
          </a:p>
        </p:txBody>
      </p:sp>
      <p:sp>
        <p:nvSpPr>
          <p:cNvPr id="4" name="Rectangle 3"/>
          <p:cNvSpPr/>
          <p:nvPr/>
        </p:nvSpPr>
        <p:spPr>
          <a:xfrm>
            <a:off x="1835818" y="1476895"/>
            <a:ext cx="8508332" cy="1938992"/>
          </a:xfrm>
          <a:prstGeom prst="rect">
            <a:avLst/>
          </a:prstGeom>
        </p:spPr>
        <p:txBody>
          <a:bodyPr wrap="square">
            <a:spAutoFit/>
          </a:bodyPr>
          <a:lstStyle/>
          <a:p>
            <a:pPr algn="ctr"/>
            <a:r>
              <a:rPr lang="en-US" sz="2400" b="1" dirty="0">
                <a:solidFill>
                  <a:schemeClr val="bg2">
                    <a:lumMod val="75000"/>
                  </a:schemeClr>
                </a:solidFill>
                <a:latin typeface="Times New Roman" panose="02020603050405020304" pitchFamily="18" charset="0"/>
                <a:cs typeface="Times New Roman" panose="02020603050405020304" pitchFamily="18" charset="0"/>
              </a:rPr>
              <a:t>BE Project Stage I Presentation</a:t>
            </a:r>
          </a:p>
          <a:p>
            <a:pPr algn="ctr"/>
            <a:r>
              <a:rPr lang="en-US" sz="2400" dirty="0">
                <a:latin typeface="Times New Roman" panose="02020603050405020304" pitchFamily="18" charset="0"/>
                <a:cs typeface="Times New Roman" panose="02020603050405020304" pitchFamily="18" charset="0"/>
              </a:rPr>
              <a:t>on</a:t>
            </a:r>
          </a:p>
          <a:p>
            <a:pPr algn="ctr"/>
            <a:r>
              <a:rPr lang="en-IN" sz="2400" b="1" dirty="0">
                <a:latin typeface="Times New Roman" panose="02020603050405020304" pitchFamily="18" charset="0"/>
                <a:cs typeface="Times New Roman" panose="02020603050405020304" pitchFamily="18" charset="0"/>
              </a:rPr>
              <a:t>Vidhan: A Gamified Approach to Learning the Indian Constitution with AI Assistance.</a:t>
            </a:r>
          </a:p>
          <a:p>
            <a:pPr algn="ctr"/>
            <a:r>
              <a:rPr lang="en-US" sz="2400" dirty="0">
                <a:latin typeface="Times New Roman" panose="02020603050405020304" pitchFamily="18" charset="0"/>
                <a:cs typeface="Times New Roman" panose="02020603050405020304" pitchFamily="18" charset="0"/>
              </a:rPr>
              <a:t>by</a:t>
            </a:r>
          </a:p>
        </p:txBody>
      </p:sp>
      <p:sp>
        <p:nvSpPr>
          <p:cNvPr id="7" name="Rectangle 6"/>
          <p:cNvSpPr/>
          <p:nvPr/>
        </p:nvSpPr>
        <p:spPr>
          <a:xfrm>
            <a:off x="2380246" y="3402774"/>
            <a:ext cx="7605963" cy="1569660"/>
          </a:xfrm>
          <a:prstGeom prst="rect">
            <a:avLst/>
          </a:prstGeom>
        </p:spPr>
        <p:txBody>
          <a:bodyPr wrap="square">
            <a:spAutoFit/>
          </a:bodyPr>
          <a:lstStyle/>
          <a:p>
            <a:pPr marL="127000">
              <a:spcBef>
                <a:spcPts val="600"/>
              </a:spcBef>
              <a:buSzPts val="1600"/>
            </a:pPr>
            <a:r>
              <a:rPr lang="en-IN" sz="2400" dirty="0">
                <a:latin typeface="Times New Roman" panose="02020603050405020304" pitchFamily="18" charset="0"/>
                <a:cs typeface="Times New Roman" panose="02020603050405020304" pitchFamily="18" charset="0"/>
              </a:rPr>
              <a:t>Patil Yashkumar </a:t>
            </a:r>
            <a:r>
              <a:rPr lang="en-IN" sz="2400" dirty="0" smtClean="0">
                <a:latin typeface="Times New Roman" panose="02020603050405020304" pitchFamily="18" charset="0"/>
                <a:cs typeface="Times New Roman" panose="02020603050405020304" pitchFamily="18" charset="0"/>
              </a:rPr>
              <a:t>Shamkant</a:t>
            </a:r>
            <a:r>
              <a:rPr lang="en-US"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72231439G</a:t>
            </a:r>
            <a:r>
              <a:rPr lang="en-GB" sz="2400" dirty="0" smtClean="0">
                <a:latin typeface="Times New Roman" panose="02020603050405020304" pitchFamily="18" charset="0"/>
                <a:cs typeface="Times New Roman" panose="02020603050405020304" pitchFamily="18" charset="0"/>
              </a:rPr>
              <a:t>] [405B046]</a:t>
            </a:r>
          </a:p>
          <a:p>
            <a:pPr marL="127000" lvl="0">
              <a:buSzPts val="1600"/>
            </a:pPr>
            <a:r>
              <a:rPr lang="en-GB" sz="2400" dirty="0" smtClean="0">
                <a:latin typeface="Times New Roman" panose="02020603050405020304" pitchFamily="18" charset="0"/>
                <a:cs typeface="Times New Roman" panose="02020603050405020304" pitchFamily="18" charset="0"/>
              </a:rPr>
              <a:t>Lomte Dhanashree Sanjay 	[7</a:t>
            </a:r>
            <a:r>
              <a:rPr lang="en-IN" sz="2400" dirty="0" smtClean="0">
                <a:latin typeface="Times New Roman" panose="02020603050405020304" pitchFamily="18" charset="0"/>
                <a:cs typeface="Times New Roman" panose="02020603050405020304" pitchFamily="18" charset="0"/>
              </a:rPr>
              <a:t>2308274L</a:t>
            </a:r>
            <a:r>
              <a:rPr lang="en-GB" sz="2400" dirty="0" smtClean="0">
                <a:latin typeface="Times New Roman" panose="02020603050405020304" pitchFamily="18" charset="0"/>
                <a:cs typeface="Times New Roman" panose="02020603050405020304" pitchFamily="18" charset="0"/>
              </a:rPr>
              <a:t>] [405B007]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smtClean="0">
                <a:latin typeface="Times New Roman" panose="02020603050405020304" pitchFamily="18" charset="0"/>
                <a:cs typeface="Times New Roman" panose="02020603050405020304" pitchFamily="18" charset="0"/>
              </a:rPr>
              <a:t>Patil Tejas Kailas 			[</a:t>
            </a:r>
            <a:r>
              <a:rPr lang="en-GB" sz="2400" dirty="0">
                <a:latin typeface="Times New Roman" panose="02020603050405020304" pitchFamily="18" charset="0"/>
                <a:cs typeface="Times New Roman" panose="02020603050405020304" pitchFamily="18" charset="0"/>
              </a:rPr>
              <a:t>72231433H</a:t>
            </a:r>
            <a:r>
              <a:rPr lang="en-GB" sz="2400" dirty="0" smtClean="0">
                <a:latin typeface="Times New Roman" panose="02020603050405020304" pitchFamily="18" charset="0"/>
                <a:cs typeface="Times New Roman" panose="02020603050405020304" pitchFamily="18" charset="0"/>
              </a:rPr>
              <a:t>] [405B047]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a:latin typeface="Times New Roman" panose="02020603050405020304" pitchFamily="18" charset="0"/>
                <a:cs typeface="Times New Roman" panose="02020603050405020304" pitchFamily="18" charset="0"/>
              </a:rPr>
              <a:t>Khedkar </a:t>
            </a:r>
            <a:r>
              <a:rPr lang="en-GB" sz="2400" dirty="0" smtClean="0">
                <a:latin typeface="Times New Roman" panose="02020603050405020304" pitchFamily="18" charset="0"/>
                <a:cs typeface="Times New Roman" panose="02020603050405020304" pitchFamily="18" charset="0"/>
              </a:rPr>
              <a:t>Aditi </a:t>
            </a:r>
            <a:r>
              <a:rPr lang="en-GB" sz="2400" dirty="0">
                <a:latin typeface="Times New Roman" panose="02020603050405020304" pitchFamily="18" charset="0"/>
                <a:cs typeface="Times New Roman" panose="02020603050405020304" pitchFamily="18" charset="0"/>
              </a:rPr>
              <a:t>Ambadas </a:t>
            </a:r>
            <a:r>
              <a:rPr lang="en-GB" sz="2400" dirty="0" smtClean="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72308261J</a:t>
            </a:r>
            <a:r>
              <a:rPr lang="en-GB" sz="2400" dirty="0" smtClean="0">
                <a:latin typeface="Times New Roman" panose="02020603050405020304" pitchFamily="18" charset="0"/>
                <a:cs typeface="Times New Roman" panose="02020603050405020304" pitchFamily="18" charset="0"/>
              </a:rPr>
              <a:t>] [405B006]</a:t>
            </a:r>
            <a:endParaRPr lang="en-GB" sz="2400" dirty="0">
              <a:latin typeface="Times New Roman" panose="02020603050405020304" pitchFamily="18" charset="0"/>
              <a:cs typeface="Times New Roman" panose="02020603050405020304" pitchFamily="18" charset="0"/>
            </a:endParaRPr>
          </a:p>
        </p:txBody>
      </p:sp>
      <p:sp>
        <p:nvSpPr>
          <p:cNvPr id="8" name="Subtitle 2"/>
          <p:cNvSpPr txBox="1"/>
          <p:nvPr/>
        </p:nvSpPr>
        <p:spPr>
          <a:xfrm>
            <a:off x="2121568" y="5225160"/>
            <a:ext cx="7696200" cy="838200"/>
          </a:xfrm>
          <a:prstGeom prst="rect">
            <a:avLst/>
          </a:prstGeom>
        </p:spPr>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4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Under the guidance of</a:t>
            </a:r>
            <a:endParaRPr kumimoji="0" lang="en-US" sz="26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Prof.</a:t>
            </a:r>
            <a:r>
              <a:rPr kumimoji="0" lang="en-US" sz="2200" b="0" i="0" u="none" strike="noStrike" kern="1200" cap="none" spc="0" normalizeH="0" noProof="0" dirty="0" smtClean="0">
                <a:ln>
                  <a:noFill/>
                </a:ln>
                <a:effectLst/>
                <a:uLnTx/>
                <a:uFillTx/>
                <a:latin typeface="Times New Roman" panose="02020603050405020304" pitchFamily="18" charset="0"/>
                <a:cs typeface="Times New Roman" panose="02020603050405020304" pitchFamily="18" charset="0"/>
              </a:rPr>
              <a:t> </a:t>
            </a: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R.A.Vasmatkar</a:t>
            </a:r>
            <a:endParaRPr kumimoji="0" lang="en-US" sz="2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pPr/>
              <a:t>1</a:t>
            </a:fld>
            <a:endParaRPr lang="en-US" dirty="0"/>
          </a:p>
        </p:txBody>
      </p:sp>
      <p:cxnSp>
        <p:nvCxnSpPr>
          <p:cNvPr id="11" name="Straight Connector 10"/>
          <p:cNvCxnSpPr/>
          <p:nvPr/>
        </p:nvCxnSpPr>
        <p:spPr>
          <a:xfrm>
            <a:off x="406400" y="1249791"/>
            <a:ext cx="9292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569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13" name="Rectangle 12"/>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Content Placeholder 2"/>
          <p:cNvSpPr txBox="1">
            <a:spLocks/>
          </p:cNvSpPr>
          <p:nvPr/>
        </p:nvSpPr>
        <p:spPr>
          <a:xfrm>
            <a:off x="529105" y="446881"/>
            <a:ext cx="9567395" cy="5133766"/>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50000"/>
              </a:lnSpc>
            </a:pPr>
            <a:r>
              <a:rPr lang="en-US" sz="3200" dirty="0" smtClean="0">
                <a:solidFill>
                  <a:schemeClr val="tx1"/>
                </a:solidFill>
                <a:latin typeface="Times New Roman" panose="02020603050405020304" pitchFamily="18" charset="0"/>
                <a:cs typeface="Times New Roman" panose="02020603050405020304" pitchFamily="18" charset="0"/>
              </a:rPr>
              <a:t>Project Area  </a:t>
            </a:r>
          </a:p>
          <a:p>
            <a:pPr algn="just">
              <a:lnSpc>
                <a:spcPct val="150000"/>
              </a:lnSpc>
            </a:pPr>
            <a:r>
              <a:rPr lang="en-US" dirty="0" smtClean="0">
                <a:solidFill>
                  <a:schemeClr val="tx1"/>
                </a:solidFill>
                <a:latin typeface="Times New Roman" panose="02020603050405020304" pitchFamily="18" charset="0"/>
                <a:cs typeface="Times New Roman" panose="02020603050405020304" pitchFamily="18" charset="0"/>
              </a:rPr>
              <a:t>The project focuses on developing an interactive web platform that transforms learning about the Constitution into an engaging and game-like experience. The primary goal is to enhance constitutional literacy among citizens through gamification.</a:t>
            </a:r>
          </a:p>
          <a:p>
            <a:pPr lvl="1" algn="just">
              <a:lnSpc>
                <a:spcPct val="150000"/>
              </a:lnSpc>
              <a:buFont typeface="Courier New" panose="02070309020205020404" pitchFamily="49" charset="0"/>
              <a:buChar char="o"/>
            </a:pPr>
            <a:r>
              <a:rPr lang="en-US" sz="2000" dirty="0" smtClean="0">
                <a:solidFill>
                  <a:schemeClr val="tx1"/>
                </a:solidFill>
                <a:latin typeface="Times New Roman" panose="02020603050405020304" pitchFamily="18" charset="0"/>
                <a:cs typeface="Times New Roman" panose="02020603050405020304" pitchFamily="18" charset="0"/>
              </a:rPr>
              <a:t>Domain: Ed-Tech (Educational Technology) &amp; </a:t>
            </a:r>
            <a:r>
              <a:rPr lang="en-US" sz="2000" dirty="0" err="1" smtClean="0">
                <a:solidFill>
                  <a:schemeClr val="tx1"/>
                </a:solidFill>
                <a:latin typeface="Times New Roman" panose="02020603050405020304" pitchFamily="18" charset="0"/>
                <a:cs typeface="Times New Roman" panose="02020603050405020304" pitchFamily="18" charset="0"/>
              </a:rPr>
              <a:t>Civ</a:t>
            </a:r>
            <a:r>
              <a:rPr lang="en-US" sz="2000" dirty="0" smtClean="0">
                <a:solidFill>
                  <a:schemeClr val="tx1"/>
                </a:solidFill>
                <a:latin typeface="Times New Roman" panose="02020603050405020304" pitchFamily="18" charset="0"/>
                <a:cs typeface="Times New Roman" panose="02020603050405020304" pitchFamily="18" charset="0"/>
              </a:rPr>
              <a:t>-Tech (Civic Technology)</a:t>
            </a:r>
          </a:p>
          <a:p>
            <a:pPr lvl="1" algn="just">
              <a:lnSpc>
                <a:spcPct val="150000"/>
              </a:lnSpc>
              <a:buFont typeface="Courier New" panose="02070309020205020404" pitchFamily="49" charset="0"/>
              <a:buChar char="o"/>
            </a:pPr>
            <a:r>
              <a:rPr lang="en-US" sz="2000" dirty="0" smtClean="0">
                <a:solidFill>
                  <a:schemeClr val="tx1"/>
                </a:solidFill>
                <a:latin typeface="Times New Roman" panose="02020603050405020304" pitchFamily="18" charset="0"/>
                <a:cs typeface="Times New Roman" panose="02020603050405020304" pitchFamily="18" charset="0"/>
              </a:rPr>
              <a:t>Subject Matter: The Constitution of India</a:t>
            </a:r>
          </a:p>
          <a:p>
            <a:pPr lvl="1" algn="just">
              <a:lnSpc>
                <a:spcPct val="150000"/>
              </a:lnSpc>
              <a:buFont typeface="Courier New" panose="02070309020205020404" pitchFamily="49" charset="0"/>
              <a:buChar char="o"/>
            </a:pPr>
            <a:r>
              <a:rPr lang="en-US" sz="2000" dirty="0" smtClean="0">
                <a:solidFill>
                  <a:schemeClr val="tx1"/>
                </a:solidFill>
                <a:latin typeface="Times New Roman" panose="02020603050405020304" pitchFamily="18" charset="0"/>
                <a:cs typeface="Times New Roman" panose="02020603050405020304" pitchFamily="18" charset="0"/>
              </a:rPr>
              <a:t>Core Objective: To simplify complex constitutional articles, amendments, and legal principles through interactive gameplay.</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6" name="Slide Number Placeholder 15"/>
          <p:cNvSpPr>
            <a:spLocks noGrp="1"/>
          </p:cNvSpPr>
          <p:nvPr>
            <p:ph type="sldNum" sz="quarter" idx="12"/>
          </p:nvPr>
        </p:nvSpPr>
        <p:spPr/>
        <p:txBody>
          <a:bodyPr/>
          <a:lstStyle/>
          <a:p>
            <a:fld id="{4FAB73BC-B049-4115-A692-8D63A059BFB8}" type="slidenum">
              <a:rPr lang="en-US" smtClean="0"/>
              <a:pPr/>
              <a:t>2</a:t>
            </a:fld>
            <a:endParaRPr lang="en-US" dirty="0"/>
          </a:p>
        </p:txBody>
      </p:sp>
      <p:cxnSp>
        <p:nvCxnSpPr>
          <p:cNvPr id="19" name="Straight Connector 18"/>
          <p:cNvCxnSpPr/>
          <p:nvPr/>
        </p:nvCxnSpPr>
        <p:spPr>
          <a:xfrm>
            <a:off x="529105" y="1181100"/>
            <a:ext cx="9169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304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4" name="Title 3"/>
          <p:cNvSpPr>
            <a:spLocks noGrp="1"/>
          </p:cNvSpPr>
          <p:nvPr>
            <p:ph type="title" idx="4294967295"/>
          </p:nvPr>
        </p:nvSpPr>
        <p:spPr>
          <a:xfrm>
            <a:off x="565150" y="470209"/>
            <a:ext cx="2127250" cy="511175"/>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Motivation </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65150" y="1143816"/>
            <a:ext cx="11010901" cy="4401205"/>
          </a:xfrm>
          <a:prstGeom prst="rect">
            <a:avLst/>
          </a:prstGeom>
        </p:spPr>
        <p:txBody>
          <a:bodyPr wrap="square">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The "Boring" Barrier</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Traditional </a:t>
            </a:r>
            <a:r>
              <a:rPr lang="en-US" sz="2000" dirty="0">
                <a:latin typeface="Times New Roman" panose="02020603050405020304" pitchFamily="18" charset="0"/>
                <a:cs typeface="Times New Roman" panose="02020603050405020304" pitchFamily="18" charset="0"/>
              </a:rPr>
              <a:t>methods (dense textbooks, long articles) make learning the constitution feel </a:t>
            </a:r>
            <a:r>
              <a:rPr lang="en-US" sz="2000" dirty="0" smtClean="0">
                <a:latin typeface="Times New Roman" panose="02020603050405020304" pitchFamily="18" charset="0"/>
                <a:cs typeface="Times New Roman" panose="02020603050405020304" pitchFamily="18" charset="0"/>
              </a:rPr>
              <a:t>difficult, 	not </a:t>
            </a:r>
            <a:r>
              <a:rPr lang="en-US" sz="2000" dirty="0">
                <a:latin typeface="Times New Roman" panose="02020603050405020304" pitchFamily="18" charset="0"/>
                <a:cs typeface="Times New Roman" panose="02020603050405020304" pitchFamily="18" charset="0"/>
              </a:rPr>
              <a:t>an </a:t>
            </a:r>
            <a:r>
              <a:rPr lang="en-US" sz="2000" dirty="0" smtClean="0">
                <a:latin typeface="Times New Roman" panose="02020603050405020304" pitchFamily="18" charset="0"/>
                <a:cs typeface="Times New Roman" panose="02020603050405020304" pitchFamily="18" charset="0"/>
              </a:rPr>
              <a:t>opportunity</a:t>
            </a:r>
            <a:r>
              <a:rPr lang="en-US" sz="2000" dirty="0">
                <a:latin typeface="Times New Roman" panose="02020603050405020304" pitchFamily="18" charset="0"/>
                <a:cs typeface="Times New Roman" panose="02020603050405020304" pitchFamily="18" charset="0"/>
              </a:rPr>
              <a:t>. This alienates modern learners, especially </a:t>
            </a:r>
            <a:r>
              <a:rPr lang="en-US" sz="2000" dirty="0" smtClean="0">
                <a:latin typeface="Times New Roman" panose="02020603050405020304" pitchFamily="18" charset="0"/>
                <a:cs typeface="Times New Roman" panose="02020603050405020304" pitchFamily="18" charset="0"/>
              </a:rPr>
              <a:t>students preferring interactive learning.</a:t>
            </a:r>
          </a:p>
          <a:p>
            <a:pPr marL="285750" indent="-285750"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Civic Knowledge Gap</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lvl="1" algn="just"/>
            <a:r>
              <a:rPr lang="en-US" sz="2000" dirty="0">
                <a:latin typeface="Times New Roman" panose="02020603050405020304" pitchFamily="18" charset="0"/>
                <a:cs typeface="Times New Roman" panose="02020603050405020304" pitchFamily="18" charset="0"/>
              </a:rPr>
              <a:t>When learning is difficult, a knowledge gap forms. Many citizens don't fully understand their fundamental rights, duties, or how their government works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Power of Interactive Learning:</a:t>
            </a:r>
          </a:p>
          <a:p>
            <a:pPr algn="just"/>
            <a:r>
              <a:rPr lang="en-US" sz="2000" dirty="0" smtClean="0">
                <a:latin typeface="Times New Roman" panose="02020603050405020304" pitchFamily="18" charset="0"/>
                <a:cs typeface="Times New Roman" panose="02020603050405020304" pitchFamily="18" charset="0"/>
              </a:rPr>
              <a:t>	We </a:t>
            </a:r>
            <a:r>
              <a:rPr lang="en-US" sz="2000" dirty="0">
                <a:latin typeface="Times New Roman" panose="02020603050405020304" pitchFamily="18" charset="0"/>
                <a:cs typeface="Times New Roman" panose="02020603050405020304" pitchFamily="18" charset="0"/>
              </a:rPr>
              <a:t>can transform this topic by making it active instead of passive. Gamification and interactivity turn </a:t>
            </a:r>
            <a:r>
              <a:rPr lang="en-US" sz="2000" dirty="0" smtClean="0">
                <a:latin typeface="Times New Roman" panose="02020603050405020304" pitchFamily="18" charset="0"/>
                <a:cs typeface="Times New Roman" panose="02020603050405020304" pitchFamily="18" charset="0"/>
              </a:rPr>
              <a:t>	learning 	into </a:t>
            </a:r>
            <a:r>
              <a:rPr lang="en-US" sz="2000" dirty="0">
                <a:latin typeface="Times New Roman" panose="02020603050405020304" pitchFamily="18" charset="0"/>
                <a:cs typeface="Times New Roman" panose="02020603050405020304" pitchFamily="18" charset="0"/>
              </a:rPr>
              <a:t>an engaging experience that is rewarding and memorable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Ultimate Goal: Empowered Citizens</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	Our </a:t>
            </a:r>
            <a:r>
              <a:rPr lang="en-US" sz="2000" dirty="0">
                <a:latin typeface="Times New Roman" panose="02020603050405020304" pitchFamily="18" charset="0"/>
                <a:cs typeface="Times New Roman" panose="02020603050405020304" pitchFamily="18" charset="0"/>
              </a:rPr>
              <a:t>motivation is to build an informed and active citizenry. An accessible, fun platform empowers </a:t>
            </a:r>
            <a:r>
              <a:rPr lang="en-US" sz="2000" dirty="0" smtClean="0">
                <a:latin typeface="Times New Roman" panose="02020603050405020304" pitchFamily="18" charset="0"/>
                <a:cs typeface="Times New Roman" panose="02020603050405020304" pitchFamily="18" charset="0"/>
              </a:rPr>
              <a:t>	citizens </a:t>
            </a:r>
            <a:r>
              <a:rPr lang="en-US" sz="2000" dirty="0">
                <a:latin typeface="Times New Roman" panose="02020603050405020304" pitchFamily="18" charset="0"/>
                <a:cs typeface="Times New Roman" panose="02020603050405020304" pitchFamily="18" charset="0"/>
              </a:rPr>
              <a:t>and students with constitutional knowledge, we give them the confidence to understand their </a:t>
            </a:r>
            <a:r>
              <a:rPr lang="en-US" sz="2000" dirty="0" smtClean="0">
                <a:latin typeface="Times New Roman" panose="02020603050405020304" pitchFamily="18" charset="0"/>
                <a:cs typeface="Times New Roman" panose="02020603050405020304" pitchFamily="18" charset="0"/>
              </a:rPr>
              <a:t>	rights </a:t>
            </a:r>
            <a:r>
              <a:rPr lang="en-US" sz="2000" dirty="0">
                <a:latin typeface="Times New Roman" panose="02020603050405020304" pitchFamily="18" charset="0"/>
                <a:cs typeface="Times New Roman" panose="02020603050405020304" pitchFamily="18" charset="0"/>
              </a:rPr>
              <a:t>and responsibilities. This confidence is the first step towards creating a more engaged and </a:t>
            </a:r>
            <a:r>
              <a:rPr lang="en-US" sz="2000" dirty="0" smtClean="0">
                <a:latin typeface="Times New Roman" panose="02020603050405020304" pitchFamily="18" charset="0"/>
                <a:cs typeface="Times New Roman" panose="02020603050405020304" pitchFamily="18" charset="0"/>
              </a:rPr>
              <a:t>	active </a:t>
            </a:r>
            <a:r>
              <a:rPr lang="en-US" sz="2000" dirty="0">
                <a:latin typeface="Times New Roman" panose="02020603050405020304" pitchFamily="18" charset="0"/>
                <a:cs typeface="Times New Roman" panose="02020603050405020304" pitchFamily="18" charset="0"/>
              </a:rPr>
              <a:t>generation that participates meaningfully in democracy.</a:t>
            </a:r>
            <a:endParaRPr lang="en-IN" sz="20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65150" y="1010994"/>
            <a:ext cx="91338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Slide Number Placeholder 13"/>
          <p:cNvSpPr>
            <a:spLocks noGrp="1"/>
          </p:cNvSpPr>
          <p:nvPr>
            <p:ph type="sldNum" sz="quarter" idx="12"/>
          </p:nvPr>
        </p:nvSpPr>
        <p:spPr/>
        <p:txBody>
          <a:bodyPr/>
          <a:lstStyle/>
          <a:p>
            <a:fld id="{4FAB73BC-B049-4115-A692-8D63A059BFB8}" type="slidenum">
              <a:rPr lang="en-US" smtClean="0"/>
              <a:pPr/>
              <a:t>3</a:t>
            </a:fld>
            <a:endParaRPr lang="en-US" dirty="0"/>
          </a:p>
        </p:txBody>
      </p:sp>
    </p:spTree>
    <p:extLst>
      <p:ext uri="{BB962C8B-B14F-4D97-AF65-F5344CB8AC3E}">
        <p14:creationId xmlns:p14="http://schemas.microsoft.com/office/powerpoint/2010/main" val="2292057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461212" y="623889"/>
            <a:ext cx="3344778" cy="584775"/>
          </a:xfrm>
          <a:prstGeom prst="rect">
            <a:avLst/>
          </a:prstGeom>
        </p:spPr>
        <p:txBody>
          <a:bodyPr wrap="square">
            <a:spAutoFit/>
          </a:bodyPr>
          <a:lstStyle/>
          <a:p>
            <a:r>
              <a:rPr lang="en-US" sz="3200" dirty="0" smtClean="0">
                <a:latin typeface="Times New Roman" panose="02020603050405020304" pitchFamily="18" charset="0"/>
                <a:cs typeface="Times New Roman" panose="02020603050405020304" pitchFamily="18" charset="0"/>
              </a:rPr>
              <a:t>Problem Statement</a:t>
            </a:r>
            <a:endParaRPr lang="en-IN" sz="3200" dirty="0"/>
          </a:p>
        </p:txBody>
      </p:sp>
      <p:sp>
        <p:nvSpPr>
          <p:cNvPr id="8" name="Rectangle 7"/>
          <p:cNvSpPr/>
          <p:nvPr/>
        </p:nvSpPr>
        <p:spPr>
          <a:xfrm>
            <a:off x="474479" y="1524776"/>
            <a:ext cx="10316410" cy="3016210"/>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Constitution of India is complex and difficult for students and the public to understand through traditional learning methods. </a:t>
            </a:r>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lack of engagement leads to low constitutional awareness.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main reason is that it's full of complicated words, and just reading long pages of text isn't fun or interactive.</a:t>
            </a:r>
          </a:p>
          <a:p>
            <a:pPr algn="just"/>
            <a:r>
              <a:rPr lang="en-US" sz="2000" dirty="0">
                <a:latin typeface="Times New Roman" panose="02020603050405020304" pitchFamily="18" charset="0"/>
                <a:cs typeface="Times New Roman" panose="02020603050405020304" pitchFamily="18" charset="0"/>
              </a:rPr>
              <a:t>Because of this, many people don't really understand their basic rights and how their country is run. This makes them less likely to get involved in their </a:t>
            </a:r>
            <a:r>
              <a:rPr lang="en-US" sz="2000" dirty="0" smtClean="0">
                <a:latin typeface="Times New Roman" panose="02020603050405020304" pitchFamily="18" charset="0"/>
                <a:cs typeface="Times New Roman" panose="02020603050405020304" pitchFamily="18" charset="0"/>
              </a:rPr>
              <a:t>community and country system.</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Hence, there is a need for an interactive and game-based website that makes learning about the Constitution simple, fun, and effective.</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1" name="Rectangle 10"/>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a:off x="474479" y="1320817"/>
            <a:ext cx="909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12"/>
          </p:nvPr>
        </p:nvSpPr>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720449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Slide Number Placeholder 8"/>
          <p:cNvSpPr>
            <a:spLocks noGrp="1"/>
          </p:cNvSpPr>
          <p:nvPr>
            <p:ph type="sldNum" sz="quarter" idx="12"/>
          </p:nvPr>
        </p:nvSpPr>
        <p:spPr/>
        <p:txBody>
          <a:bodyPr/>
          <a:lstStyle/>
          <a:p>
            <a:fld id="{4FAB73BC-B049-4115-A692-8D63A059BFB8}" type="slidenum">
              <a:rPr lang="en-US" smtClean="0"/>
              <a:t>5</a:t>
            </a:fld>
            <a:endParaRPr lang="en-US" dirty="0"/>
          </a:p>
        </p:txBody>
      </p:sp>
      <p:sp>
        <p:nvSpPr>
          <p:cNvPr id="4" name="Title 3"/>
          <p:cNvSpPr>
            <a:spLocks noGrp="1"/>
          </p:cNvSpPr>
          <p:nvPr>
            <p:ph type="title" idx="4294967295"/>
          </p:nvPr>
        </p:nvSpPr>
        <p:spPr>
          <a:xfrm>
            <a:off x="434570" y="509549"/>
            <a:ext cx="5661430" cy="593725"/>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Aim and Objectives of the project</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434570" y="1247149"/>
            <a:ext cx="10121900" cy="646331"/>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Aim :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transform constitutional education from a passive, text-based task into an engaging, interactive, and accessible experience that empowers citizens with functional knowledge of their rights and government.</a:t>
            </a: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434570" y="1871740"/>
            <a:ext cx="11518900" cy="4524315"/>
          </a:xfrm>
          <a:prstGeom prst="rect">
            <a:avLst/>
          </a:prstGeom>
        </p:spPr>
        <p:txBody>
          <a:bodyPr wrap="square">
            <a:spAutoFit/>
          </a:bodyPr>
          <a:lstStyle/>
          <a:p>
            <a:pPr algn="just"/>
            <a:r>
              <a:rPr lang="en-US" b="1" dirty="0" smtClean="0">
                <a:latin typeface="Times New Roman" panose="02020603050405020304" pitchFamily="18" charset="0"/>
                <a:cs typeface="Times New Roman" panose="02020603050405020304" pitchFamily="18" charset="0"/>
              </a:rPr>
              <a:t>Objectives :</a:t>
            </a:r>
          </a:p>
          <a:p>
            <a:pPr marL="285750" indent="-285750" algn="just">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Develop </a:t>
            </a:r>
            <a:r>
              <a:rPr lang="en-US" b="1" dirty="0">
                <a:latin typeface="Times New Roman" panose="02020603050405020304" pitchFamily="18" charset="0"/>
                <a:cs typeface="Times New Roman" panose="02020603050405020304" pitchFamily="18" charset="0"/>
              </a:rPr>
              <a:t>an Interactive Platform</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To build a user-friendly website featuring gamified modules, quizzes, and real-world scenarios that cover the constitution's core principles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Simplify Complex Information</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To translate the dense, formal language of the constitution into simple, clear, and relatable content suitable for a broad audience, especially students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Boost Learner Engagement</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To implement game mechanics like points, badges, and progress tracking to motivate users, encourage consistent </a:t>
            </a:r>
            <a:r>
              <a:rPr lang="en-US" dirty="0" smtClean="0">
                <a:latin typeface="Times New Roman" panose="02020603050405020304" pitchFamily="18" charset="0"/>
                <a:cs typeface="Times New Roman" panose="02020603050405020304" pitchFamily="18" charset="0"/>
              </a:rPr>
              <a:t>participation</a:t>
            </a:r>
            <a:r>
              <a:rPr lang="en-US" dirty="0">
                <a:latin typeface="Times New Roman" panose="02020603050405020304" pitchFamily="18" charset="0"/>
                <a:cs typeface="Times New Roman" panose="02020603050405020304" pitchFamily="18" charset="0"/>
              </a:rPr>
              <a:t>, and make learning enjoyable</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Foster Practical Understanding</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To create content that connects constitutional concepts to everyday life, helping users understand not just what their rights are, but how they apply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Promote Civic Confidence</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To equip users with the knowledge and confidence needed to become active and informed participants in their communities.</a:t>
            </a:r>
            <a:endParaRPr lang="en-IN" dirty="0">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434570" y="1167004"/>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77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Slide Number Placeholder 6"/>
          <p:cNvSpPr>
            <a:spLocks noGrp="1"/>
          </p:cNvSpPr>
          <p:nvPr>
            <p:ph type="sldNum" sz="quarter" idx="12"/>
          </p:nvPr>
        </p:nvSpPr>
        <p:spPr/>
        <p:txBody>
          <a:bodyPr/>
          <a:lstStyle/>
          <a:p>
            <a:fld id="{4FAB73BC-B049-4115-A692-8D63A059BFB8}" type="slidenum">
              <a:rPr lang="en-US" smtClean="0"/>
              <a:t>6</a:t>
            </a:fld>
            <a:endParaRPr lang="en-US" dirty="0"/>
          </a:p>
        </p:txBody>
      </p:sp>
      <p:sp>
        <p:nvSpPr>
          <p:cNvPr id="11" name="Rectangle 10"/>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2" name="Rectangle 11"/>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3" name="Title 3"/>
          <p:cNvSpPr txBox="1">
            <a:spLocks/>
          </p:cNvSpPr>
          <p:nvPr/>
        </p:nvSpPr>
        <p:spPr>
          <a:xfrm>
            <a:off x="462002" y="788288"/>
            <a:ext cx="2230398" cy="59372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300" dirty="0" smtClean="0">
                <a:solidFill>
                  <a:schemeClr val="tx1"/>
                </a:solidFill>
                <a:latin typeface="Times New Roman" panose="02020603050405020304" pitchFamily="18" charset="0"/>
                <a:cs typeface="Times New Roman" panose="02020603050405020304" pitchFamily="18" charset="0"/>
              </a:rPr>
              <a:t>Introduction</a:t>
            </a:r>
            <a:endParaRPr lang="en-IN"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62002" y="1516853"/>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89435" y="1901859"/>
            <a:ext cx="8946665" cy="347787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In today’s digital age, technology plays a vital role in enhancing learning experiences. However, the Constitution of India, being a complex legal document, is often difficult for students and the general public to understand</a:t>
            </a:r>
            <a:r>
              <a:rPr lang="en-US" sz="2000" dirty="0" smtClean="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this project, we are developing an </a:t>
            </a:r>
            <a:r>
              <a:rPr lang="en-US" sz="2000" b="1" dirty="0">
                <a:latin typeface="Times New Roman" panose="02020603050405020304" pitchFamily="18" charset="0"/>
                <a:cs typeface="Times New Roman" panose="02020603050405020304" pitchFamily="18" charset="0"/>
              </a:rPr>
              <a:t>interactive Constitution learning website</a:t>
            </a:r>
            <a:r>
              <a:rPr lang="en-US" sz="2000" dirty="0">
                <a:latin typeface="Times New Roman" panose="02020603050405020304" pitchFamily="18" charset="0"/>
                <a:cs typeface="Times New Roman" panose="02020603050405020304" pitchFamily="18" charset="0"/>
              </a:rPr>
              <a:t> that simplifies important topics such as the </a:t>
            </a:r>
            <a:r>
              <a:rPr lang="en-US" sz="2000" b="1" dirty="0">
                <a:latin typeface="Times New Roman" panose="02020603050405020304" pitchFamily="18" charset="0"/>
                <a:cs typeface="Times New Roman" panose="02020603050405020304" pitchFamily="18" charset="0"/>
              </a:rPr>
              <a:t>Preamble, Fundamental Rights, Duties, and Directive Principles</a:t>
            </a:r>
            <a:r>
              <a:rPr lang="en-US" sz="2000" dirty="0">
                <a:latin typeface="Times New Roman" panose="02020603050405020304" pitchFamily="18" charset="0"/>
                <a:cs typeface="Times New Roman" panose="02020603050405020304" pitchFamily="18" charset="0"/>
              </a:rPr>
              <a:t> through easy explanations and engaging visuals</a:t>
            </a:r>
            <a:r>
              <a:rPr lang="en-US" sz="2000" dirty="0" smtClean="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make learning more enjoyable, the system also includes </a:t>
            </a:r>
            <a:r>
              <a:rPr lang="en-US" sz="2000" b="1" dirty="0">
                <a:latin typeface="Times New Roman" panose="02020603050405020304" pitchFamily="18" charset="0"/>
                <a:cs typeface="Times New Roman" panose="02020603050405020304" pitchFamily="18" charset="0"/>
              </a:rPr>
              <a:t>educational games and quizzes</a:t>
            </a:r>
            <a:r>
              <a:rPr lang="en-US" sz="2000" dirty="0">
                <a:latin typeface="Times New Roman" panose="02020603050405020304" pitchFamily="18" charset="0"/>
                <a:cs typeface="Times New Roman" panose="02020603050405020304" pitchFamily="18" charset="0"/>
              </a:rPr>
              <a:t> that help users test their knowledge and retain key concepts in a fun and interactive manner.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35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7</a:t>
            </a:fld>
            <a:endParaRPr lang="en-US" dirty="0"/>
          </a:p>
        </p:txBody>
      </p:sp>
      <p:cxnSp>
        <p:nvCxnSpPr>
          <p:cNvPr id="13" name="Straight Connector 12"/>
          <p:cNvCxnSpPr/>
          <p:nvPr/>
        </p:nvCxnSpPr>
        <p:spPr>
          <a:xfrm>
            <a:off x="457200" y="1320817"/>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graphicFrame>
        <p:nvGraphicFramePr>
          <p:cNvPr id="15" name="Content Placeholder 5"/>
          <p:cNvGraphicFramePr>
            <a:graphicFrameLocks/>
          </p:cNvGraphicFramePr>
          <p:nvPr>
            <p:extLst>
              <p:ext uri="{D42A27DB-BD31-4B8C-83A1-F6EECF244321}">
                <p14:modId xmlns:p14="http://schemas.microsoft.com/office/powerpoint/2010/main" val="1025793052"/>
              </p:ext>
            </p:extLst>
          </p:nvPr>
        </p:nvGraphicFramePr>
        <p:xfrm>
          <a:off x="457200" y="1482520"/>
          <a:ext cx="11049001" cy="4389120"/>
        </p:xfrm>
        <a:graphic>
          <a:graphicData uri="http://schemas.openxmlformats.org/drawingml/2006/table">
            <a:tbl>
              <a:tblPr firstRow="1" bandRow="1">
                <a:tableStyleId>{5C22544A-7EE6-4342-B048-85BDC9FD1C3A}</a:tableStyleId>
              </a:tblPr>
              <a:tblGrid>
                <a:gridCol w="812035">
                  <a:extLst>
                    <a:ext uri="{9D8B030D-6E8A-4147-A177-3AD203B41FA5}">
                      <a16:colId xmlns:a16="http://schemas.microsoft.com/office/drawing/2014/main" xmlns="" val="20000"/>
                    </a:ext>
                  </a:extLst>
                </a:gridCol>
                <a:gridCol w="2036744"/>
                <a:gridCol w="1837063">
                  <a:extLst>
                    <a:ext uri="{9D8B030D-6E8A-4147-A177-3AD203B41FA5}">
                      <a16:colId xmlns:a16="http://schemas.microsoft.com/office/drawing/2014/main" xmlns="" val="20001"/>
                    </a:ext>
                  </a:extLst>
                </a:gridCol>
                <a:gridCol w="2835467">
                  <a:extLst>
                    <a:ext uri="{9D8B030D-6E8A-4147-A177-3AD203B41FA5}">
                      <a16:colId xmlns:a16="http://schemas.microsoft.com/office/drawing/2014/main" xmlns="" val="20002"/>
                    </a:ext>
                  </a:extLst>
                </a:gridCol>
                <a:gridCol w="3527692">
                  <a:extLst>
                    <a:ext uri="{9D8B030D-6E8A-4147-A177-3AD203B41FA5}">
                      <a16:colId xmlns:a16="http://schemas.microsoft.com/office/drawing/2014/main" xmlns="" val="20003"/>
                    </a:ext>
                  </a:extLst>
                </a:gridCol>
              </a:tblGrid>
              <a:tr h="294640">
                <a:tc>
                  <a:txBody>
                    <a:bodyPr/>
                    <a:lstStyle/>
                    <a:p>
                      <a:pPr algn="ctr"/>
                      <a:r>
                        <a:rPr lang="en-US" b="1" dirty="0">
                          <a:latin typeface="Times New Roman" panose="02020603050405020304" pitchFamily="18" charset="0"/>
                          <a:cs typeface="Times New Roman" panose="02020603050405020304" pitchFamily="18" charset="0"/>
                        </a:rPr>
                        <a:t>Sr No</a:t>
                      </a:r>
                    </a:p>
                  </a:txBody>
                  <a:tcPr/>
                </a:tc>
                <a:tc>
                  <a:txBody>
                    <a:bodyPr/>
                    <a:lstStyle/>
                    <a:p>
                      <a:pPr algn="ctr"/>
                      <a:r>
                        <a:rPr lang="en-US" b="1" dirty="0" smtClean="0">
                          <a:latin typeface="Times New Roman" panose="02020603050405020304" pitchFamily="18" charset="0"/>
                          <a:cs typeface="Times New Roman" panose="02020603050405020304" pitchFamily="18" charset="0"/>
                        </a:rPr>
                        <a:t>Title</a:t>
                      </a:r>
                      <a:endParaRPr lang="en-US"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Publication Details</a:t>
                      </a:r>
                    </a:p>
                  </a:txBody>
                  <a:tcPr/>
                </a:tc>
                <a:tc>
                  <a:txBody>
                    <a:bodyPr/>
                    <a:lstStyle/>
                    <a:p>
                      <a:pPr algn="ctr"/>
                      <a:r>
                        <a:rPr lang="en-US" b="1" dirty="0">
                          <a:latin typeface="Times New Roman" panose="02020603050405020304" pitchFamily="18" charset="0"/>
                          <a:cs typeface="Times New Roman" panose="02020603050405020304" pitchFamily="18" charset="0"/>
                        </a:rPr>
                        <a:t>Seed Idea</a:t>
                      </a:r>
                    </a:p>
                  </a:txBody>
                  <a:tcPr/>
                </a:tc>
                <a:tc>
                  <a:txBody>
                    <a:bodyPr/>
                    <a:lstStyle/>
                    <a:p>
                      <a:pPr algn="ctr"/>
                      <a:r>
                        <a:rPr lang="en-US" b="1" dirty="0">
                          <a:latin typeface="Times New Roman" panose="02020603050405020304" pitchFamily="18" charset="0"/>
                          <a:cs typeface="Times New Roman" panose="02020603050405020304" pitchFamily="18" charset="0"/>
                        </a:rPr>
                        <a:t>Drawbacks</a:t>
                      </a:r>
                    </a:p>
                  </a:txBody>
                  <a:tcPr/>
                </a:tc>
                <a:extLst>
                  <a:ext uri="{0D108BD9-81ED-4DB2-BD59-A6C34878D82A}">
                    <a16:rowId xmlns:a16="http://schemas.microsoft.com/office/drawing/2014/main" xmlns="" val="10000"/>
                  </a:ext>
                </a:extLst>
              </a:tr>
              <a:tr h="370840">
                <a:tc>
                  <a:txBody>
                    <a:bodyPr/>
                    <a:lstStyle/>
                    <a:p>
                      <a:r>
                        <a:rPr lang="en-US" sz="1600" b="0" dirty="0">
                          <a:latin typeface="Times New Roman" panose="02020603050405020304" pitchFamily="18" charset="0"/>
                          <a:cs typeface="Times New Roman" panose="02020603050405020304" pitchFamily="18" charset="0"/>
                        </a:rPr>
                        <a:t>1</a:t>
                      </a:r>
                    </a:p>
                  </a:txBody>
                  <a:tcPr/>
                </a:tc>
                <a:tc>
                  <a:txBody>
                    <a:bodyPr/>
                    <a:lstStyle/>
                    <a:p>
                      <a:pPr algn="l"/>
                      <a:r>
                        <a:rPr lang="en-US" sz="1600" b="0" dirty="0" smtClean="0">
                          <a:latin typeface="Times New Roman" panose="02020603050405020304" pitchFamily="18" charset="0"/>
                          <a:cs typeface="Times New Roman" panose="02020603050405020304" pitchFamily="18" charset="0"/>
                        </a:rPr>
                        <a:t>CONSTITUTION CONNECT: A DIGITAL PLATFORM FOR PROMOTING CONSTITUTIONAL LITERACY USING MERN STACK </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IN" sz="1600" b="0" kern="1200" dirty="0" smtClean="0">
                          <a:solidFill>
                            <a:schemeClr val="dk1"/>
                          </a:solidFill>
                          <a:effectLst/>
                          <a:latin typeface="Times New Roman" panose="02020603050405020304" pitchFamily="18" charset="0"/>
                          <a:ea typeface="+mn-ea"/>
                          <a:cs typeface="Times New Roman" panose="02020603050405020304" pitchFamily="18" charset="0"/>
                        </a:rPr>
                        <a:t>International Journal of Progressive Research in Engineering Management and Science (IJPREMS).</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US" sz="1600" b="0" dirty="0" smtClean="0">
                          <a:latin typeface="Times New Roman" panose="02020603050405020304" pitchFamily="18" charset="0"/>
                          <a:cs typeface="Times New Roman" panose="02020603050405020304" pitchFamily="18" charset="0"/>
                        </a:rPr>
                        <a:t>Leveraging the MERN stack to create an integrated digital platform that combines educational blogs, gamified quizzes, and an interactive chat-bot.</a:t>
                      </a:r>
                    </a:p>
                    <a:p>
                      <a:pPr marL="0" marR="0" lvl="0" indent="0" algn="l" defTabSz="914400" rtl="0" eaLnBrk="1" fontAlgn="auto" latinLnBrk="0" hangingPunct="1">
                        <a:lnSpc>
                          <a:spcPct val="100000"/>
                        </a:lnSpc>
                        <a:spcBef>
                          <a:spcPts val="0"/>
                        </a:spcBef>
                        <a:spcAft>
                          <a:spcPts val="0"/>
                        </a:spcAft>
                        <a:buClrTx/>
                        <a:buSzTx/>
                        <a:buFontTx/>
                        <a:buNone/>
                      </a:pPr>
                      <a:r>
                        <a:rPr lang="en-US" sz="1600" b="0" dirty="0" smtClean="0">
                          <a:latin typeface="Times New Roman" panose="02020603050405020304" pitchFamily="18" charset="0"/>
                          <a:cs typeface="Times New Roman" panose="02020603050405020304" pitchFamily="18" charset="0"/>
                        </a:rPr>
                        <a:t>The core concept is to simplify complex constitutional law into accessible, engaging, and interactive content to promote widespread constitutional literacy.</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IN" sz="1600" b="1" smtClean="0">
                          <a:latin typeface="Times New Roman" panose="02020603050405020304" pitchFamily="18" charset="0"/>
                          <a:cs typeface="Times New Roman" panose="02020603050405020304" pitchFamily="18" charset="0"/>
                        </a:rPr>
                        <a:t>Limited Reach:</a:t>
                      </a:r>
                      <a:r>
                        <a:rPr lang="en-IN" sz="1600" smtClean="0">
                          <a:latin typeface="Times New Roman" panose="02020603050405020304" pitchFamily="18" charset="0"/>
                          <a:cs typeface="Times New Roman" panose="02020603050405020304" pitchFamily="18" charset="0"/>
                        </a:rPr>
                        <a:t>  </a:t>
                      </a:r>
                      <a:r>
                        <a:rPr lang="en-US" sz="1600" b="0" smtClean="0">
                          <a:latin typeface="Times New Roman" panose="02020603050405020304" pitchFamily="18" charset="0"/>
                          <a:cs typeface="Times New Roman" panose="02020603050405020304" pitchFamily="18" charset="0"/>
                        </a:rPr>
                        <a:t>Lacks </a:t>
                      </a:r>
                      <a:r>
                        <a:rPr lang="en-US" sz="1600" b="0" dirty="0" smtClean="0">
                          <a:latin typeface="Times New Roman" panose="02020603050405020304" pitchFamily="18" charset="0"/>
                          <a:cs typeface="Times New Roman" panose="02020603050405020304" pitchFamily="18" charset="0"/>
                        </a:rPr>
                        <a:t>multilingual support and in-depth content like case studies, restricting its audience and educational scope.</a:t>
                      </a:r>
                    </a:p>
                    <a:p>
                      <a:r>
                        <a:rPr lang="en-IN" sz="1600" b="1" smtClean="0">
                          <a:latin typeface="Times New Roman" panose="02020603050405020304" pitchFamily="18" charset="0"/>
                          <a:cs typeface="Times New Roman" panose="02020603050405020304" pitchFamily="18" charset="0"/>
                        </a:rPr>
                        <a:t>Basic Tech:</a:t>
                      </a:r>
                      <a:r>
                        <a:rPr lang="en-IN" sz="1600" smtClean="0">
                          <a:latin typeface="Times New Roman" panose="02020603050405020304" pitchFamily="18" charset="0"/>
                          <a:cs typeface="Times New Roman" panose="02020603050405020304" pitchFamily="18" charset="0"/>
                        </a:rPr>
                        <a:t> </a:t>
                      </a:r>
                      <a:r>
                        <a:rPr lang="en-US" sz="1600" b="0" smtClean="0">
                          <a:latin typeface="Times New Roman" panose="02020603050405020304" pitchFamily="18" charset="0"/>
                          <a:cs typeface="Times New Roman" panose="02020603050405020304" pitchFamily="18" charset="0"/>
                        </a:rPr>
                        <a:t>The </a:t>
                      </a:r>
                      <a:r>
                        <a:rPr lang="en-US" sz="1600" b="0" dirty="0" err="1" smtClean="0">
                          <a:latin typeface="Times New Roman" panose="02020603050405020304" pitchFamily="18" charset="0"/>
                          <a:cs typeface="Times New Roman" panose="02020603050405020304" pitchFamily="18" charset="0"/>
                        </a:rPr>
                        <a:t>chatbot</a:t>
                      </a:r>
                      <a:r>
                        <a:rPr lang="en-US" sz="1600" b="0" dirty="0" smtClean="0">
                          <a:latin typeface="Times New Roman" panose="02020603050405020304" pitchFamily="18" charset="0"/>
                          <a:cs typeface="Times New Roman" panose="02020603050405020304" pitchFamily="18" charset="0"/>
                        </a:rPr>
                        <a:t> is not advanced, and there are no community features like forums for user interaction.</a:t>
                      </a:r>
                    </a:p>
                    <a:p>
                      <a:r>
                        <a:rPr lang="en-IN" sz="1600" b="1" smtClean="0">
                          <a:latin typeface="Times New Roman" panose="02020603050405020304" pitchFamily="18" charset="0"/>
                          <a:cs typeface="Times New Roman" panose="02020603050405020304" pitchFamily="18" charset="0"/>
                        </a:rPr>
                        <a:t>Simple Gamification: </a:t>
                      </a:r>
                      <a:r>
                        <a:rPr lang="en-US" sz="1600" b="0" smtClean="0">
                          <a:latin typeface="Times New Roman" panose="02020603050405020304" pitchFamily="18" charset="0"/>
                          <a:cs typeface="Times New Roman" panose="02020603050405020304" pitchFamily="18" charset="0"/>
                        </a:rPr>
                        <a:t>The </a:t>
                      </a:r>
                      <a:r>
                        <a:rPr lang="en-US" sz="1600" b="0" dirty="0" smtClean="0">
                          <a:latin typeface="Times New Roman" panose="02020603050405020304" pitchFamily="18" charset="0"/>
                          <a:cs typeface="Times New Roman" panose="02020603050405020304" pitchFamily="18" charset="0"/>
                        </a:rPr>
                        <a:t>platform is missing key engagement drivers such as leaderboards, badges, or a rewards system.</a:t>
                      </a:r>
                    </a:p>
                    <a:p>
                      <a:r>
                        <a:rPr lang="en-IN" sz="1600" b="1" smtClean="0">
                          <a:latin typeface="Times New Roman" panose="02020603050405020304" pitchFamily="18" charset="0"/>
                          <a:cs typeface="Times New Roman" panose="02020603050405020304" pitchFamily="18" charset="0"/>
                        </a:rPr>
                        <a:t>Needs Expansion:</a:t>
                      </a:r>
                      <a:r>
                        <a:rPr lang="en-IN" sz="1600" smtClean="0">
                          <a:latin typeface="Times New Roman" panose="02020603050405020304" pitchFamily="18" charset="0"/>
                          <a:cs typeface="Times New Roman" panose="02020603050405020304" pitchFamily="18" charset="0"/>
                        </a:rPr>
                        <a:t>  </a:t>
                      </a:r>
                      <a:r>
                        <a:rPr lang="en-US" sz="1600" b="0" smtClean="0">
                          <a:latin typeface="Times New Roman" panose="02020603050405020304" pitchFamily="18" charset="0"/>
                          <a:cs typeface="Times New Roman" panose="02020603050405020304" pitchFamily="18" charset="0"/>
                        </a:rPr>
                        <a:t>Overall</a:t>
                      </a:r>
                      <a:r>
                        <a:rPr lang="en-US" sz="1600" b="0" dirty="0" smtClean="0">
                          <a:latin typeface="Times New Roman" panose="02020603050405020304" pitchFamily="18" charset="0"/>
                          <a:cs typeface="Times New Roman" panose="02020603050405020304" pitchFamily="18" charset="0"/>
                        </a:rPr>
                        <a:t>, it is a foundational version requiring significant enhancements to become a comprehensive resource.</a:t>
                      </a:r>
                      <a:endParaRPr lang="en-US" sz="16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2505076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9684558" y="6396285"/>
            <a:ext cx="1351490" cy="365125"/>
          </a:xfrm>
        </p:spPr>
        <p:txBody>
          <a:bodyPr/>
          <a:lstStyle/>
          <a:p>
            <a:fld id="{4FAB73BC-B049-4115-A692-8D63A059BFB8}" type="slidenum">
              <a:rPr lang="en-US" smtClean="0"/>
              <a:pPr/>
              <a:t>8</a:t>
            </a:fld>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4012624929"/>
              </p:ext>
            </p:extLst>
          </p:nvPr>
        </p:nvGraphicFramePr>
        <p:xfrm>
          <a:off x="220662" y="743901"/>
          <a:ext cx="11742739" cy="5547360"/>
        </p:xfrm>
        <a:graphic>
          <a:graphicData uri="http://schemas.openxmlformats.org/drawingml/2006/table">
            <a:tbl>
              <a:tblPr firstRow="1" bandRow="1">
                <a:tableStyleId>{5C22544A-7EE6-4342-B048-85BDC9FD1C3A}</a:tableStyleId>
              </a:tblPr>
              <a:tblGrid>
                <a:gridCol w="836461"/>
                <a:gridCol w="1711477"/>
                <a:gridCol w="1993900"/>
                <a:gridCol w="3205708"/>
                <a:gridCol w="3995193"/>
              </a:tblGrid>
              <a:tr h="1540669">
                <a:tc>
                  <a:txBody>
                    <a:bodyPr/>
                    <a:lstStyle/>
                    <a:p>
                      <a:r>
                        <a:rPr lang="en-US" sz="1600" b="0" dirty="0">
                          <a:latin typeface="Times New Roman" panose="02020603050405020304" pitchFamily="18" charset="0"/>
                          <a:cs typeface="Times New Roman" panose="02020603050405020304" pitchFamily="18" charset="0"/>
                        </a:rPr>
                        <a:t>2</a:t>
                      </a:r>
                    </a:p>
                  </a:txBody>
                  <a:tcPr/>
                </a:tc>
                <a:tc>
                  <a:txBody>
                    <a:bodyPr/>
                    <a:lstStyle/>
                    <a:p>
                      <a:r>
                        <a:rPr lang="en-IN" sz="1600" b="0" dirty="0" err="1" smtClean="0">
                          <a:latin typeface="Times New Roman" panose="02020603050405020304" pitchFamily="18" charset="0"/>
                          <a:cs typeface="Times New Roman" panose="02020603050405020304" pitchFamily="18" charset="0"/>
                        </a:rPr>
                        <a:t>LawKey</a:t>
                      </a:r>
                      <a:r>
                        <a:rPr lang="en-IN" sz="1600" b="0" dirty="0" smtClean="0">
                          <a:latin typeface="Times New Roman" panose="02020603050405020304" pitchFamily="18" charset="0"/>
                          <a:cs typeface="Times New Roman" panose="02020603050405020304" pitchFamily="18" charset="0"/>
                        </a:rPr>
                        <a:t> - Law Constitution </a:t>
                      </a:r>
                      <a:r>
                        <a:rPr lang="en-IN" sz="1600" b="0" dirty="0" err="1" smtClean="0">
                          <a:latin typeface="Times New Roman" panose="02020603050405020304" pitchFamily="18" charset="0"/>
                          <a:cs typeface="Times New Roman" panose="02020603050405020304" pitchFamily="18" charset="0"/>
                        </a:rPr>
                        <a:t>Chatbot</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IEEE - 2024 8th SLAAI International Conference on Artificial Intelligence (SLAAI-ICAI).</a:t>
                      </a:r>
                      <a:endParaRPr lang="en-US" sz="1000" b="0" dirty="0">
                        <a:latin typeface="Times New Roman" panose="02020603050405020304" pitchFamily="18" charset="0"/>
                        <a:cs typeface="Times New Roman" panose="02020603050405020304" pitchFamily="18" charset="0"/>
                      </a:endParaRPr>
                    </a:p>
                  </a:txBody>
                  <a:tcPr/>
                </a:tc>
                <a:tc>
                  <a:txBody>
                    <a:bodyPr/>
                    <a:lstStyle/>
                    <a:p>
                      <a:r>
                        <a:rPr lang="en-US" sz="1600" b="0" dirty="0" smtClean="0">
                          <a:latin typeface="Times New Roman" panose="02020603050405020304" pitchFamily="18" charset="0"/>
                          <a:cs typeface="Times New Roman" panose="02020603050405020304" pitchFamily="18" charset="0"/>
                        </a:rPr>
                        <a:t>An NLP-driven retrieval system to map natural language questions to specific articles of the constitution. For a gamified learning website, this can be adapted into an interactive game mechanic.</a:t>
                      </a:r>
                    </a:p>
                    <a:p>
                      <a:r>
                        <a:rPr lang="en-US" sz="1600" b="0" dirty="0" smtClean="0">
                          <a:latin typeface="Times New Roman" panose="02020603050405020304" pitchFamily="18" charset="0"/>
                          <a:cs typeface="Times New Roman" panose="02020603050405020304" pitchFamily="18" charset="0"/>
                        </a:rPr>
                        <a:t>Instead of just a Q&amp;A</a:t>
                      </a:r>
                    </a:p>
                    <a:p>
                      <a:endParaRPr lang="en-US" sz="1050" b="0" dirty="0">
                        <a:latin typeface="Times New Roman" panose="02020603050405020304" pitchFamily="18" charset="0"/>
                        <a:cs typeface="Times New Roman" panose="02020603050405020304" pitchFamily="18" charset="0"/>
                      </a:endParaRPr>
                    </a:p>
                  </a:txBody>
                  <a:tcPr/>
                </a:tc>
                <a:tc>
                  <a:txBody>
                    <a:bodyPr/>
                    <a:lstStyle/>
                    <a:p>
                      <a:r>
                        <a:rPr lang="en-IN" sz="1600" b="1" smtClean="0"/>
                        <a:t>Imperfect Accuracy:</a:t>
                      </a:r>
                      <a:r>
                        <a:rPr lang="en-IN" sz="1600" b="1" baseline="0" smtClean="0"/>
                        <a:t> </a:t>
                      </a:r>
                      <a:r>
                        <a:rPr lang="en-US" sz="1600" b="0" smtClean="0">
                          <a:latin typeface="Times New Roman" panose="02020603050405020304" pitchFamily="18" charset="0"/>
                          <a:cs typeface="Times New Roman" panose="02020603050405020304" pitchFamily="18" charset="0"/>
                        </a:rPr>
                        <a:t>The </a:t>
                      </a:r>
                      <a:r>
                        <a:rPr lang="en-US" sz="1600" b="0" dirty="0" smtClean="0">
                          <a:latin typeface="Times New Roman" panose="02020603050405020304" pitchFamily="18" charset="0"/>
                          <a:cs typeface="Times New Roman" panose="02020603050405020304" pitchFamily="18" charset="0"/>
                        </a:rPr>
                        <a:t>system is not flawless and can occasionally misinterpret queries or recommend the incorrect law.</a:t>
                      </a:r>
                    </a:p>
                    <a:p>
                      <a:r>
                        <a:rPr lang="en-IN" sz="1600" b="1" smtClean="0"/>
                        <a:t>Liability Risks</a:t>
                      </a:r>
                      <a:r>
                        <a:rPr lang="en-IN" sz="1600" smtClean="0"/>
                        <a:t>: </a:t>
                      </a:r>
                      <a:r>
                        <a:rPr lang="en-US" sz="1600" b="0" smtClean="0">
                          <a:latin typeface="Times New Roman" panose="02020603050405020304" pitchFamily="18" charset="0"/>
                          <a:cs typeface="Times New Roman" panose="02020603050405020304" pitchFamily="18" charset="0"/>
                        </a:rPr>
                        <a:t>There </a:t>
                      </a:r>
                      <a:r>
                        <a:rPr lang="en-US" sz="1600" b="0" dirty="0" smtClean="0">
                          <a:latin typeface="Times New Roman" panose="02020603050405020304" pitchFamily="18" charset="0"/>
                          <a:cs typeface="Times New Roman" panose="02020603050405020304" pitchFamily="18" charset="0"/>
                        </a:rPr>
                        <a:t>is a potential for professional liability issues if the </a:t>
                      </a:r>
                      <a:r>
                        <a:rPr lang="en-US" sz="1600" b="0" dirty="0" err="1" smtClean="0">
                          <a:latin typeface="Times New Roman" panose="02020603050405020304" pitchFamily="18" charset="0"/>
                          <a:cs typeface="Times New Roman" panose="02020603050405020304" pitchFamily="18" charset="0"/>
                        </a:rPr>
                        <a:t>chatbot</a:t>
                      </a:r>
                      <a:r>
                        <a:rPr lang="en-US" sz="1600" b="0" dirty="0" smtClean="0">
                          <a:latin typeface="Times New Roman" panose="02020603050405020304" pitchFamily="18" charset="0"/>
                          <a:cs typeface="Times New Roman" panose="02020603050405020304" pitchFamily="18" charset="0"/>
                        </a:rPr>
                        <a:t> provides incorrect legal guidance due to machine errors.</a:t>
                      </a:r>
                    </a:p>
                    <a:p>
                      <a:r>
                        <a:rPr lang="en-IN" sz="1600" b="1" smtClean="0"/>
                        <a:t>Feedback Dependency</a:t>
                      </a:r>
                      <a:r>
                        <a:rPr lang="en-IN" sz="1600" smtClean="0"/>
                        <a:t>: </a:t>
                      </a:r>
                      <a:r>
                        <a:rPr lang="en-US" sz="1600" b="0" smtClean="0">
                          <a:latin typeface="Times New Roman" panose="02020603050405020304" pitchFamily="18" charset="0"/>
                          <a:cs typeface="Times New Roman" panose="02020603050405020304" pitchFamily="18" charset="0"/>
                        </a:rPr>
                        <a:t>The </a:t>
                      </a:r>
                      <a:r>
                        <a:rPr lang="en-US" sz="1600" b="0" dirty="0" smtClean="0">
                          <a:latin typeface="Times New Roman" panose="02020603050405020304" pitchFamily="18" charset="0"/>
                          <a:cs typeface="Times New Roman" panose="02020603050405020304" pitchFamily="18" charset="0"/>
                        </a:rPr>
                        <a:t>reinforcement learning model's performance is highly dependent on the quality and quantity of user feedback it receives to improve. </a:t>
                      </a:r>
                    </a:p>
                  </a:txBody>
                  <a:tcPr/>
                </a:tc>
              </a:tr>
              <a:tr h="1540669">
                <a:tc>
                  <a:txBody>
                    <a:bodyPr/>
                    <a:lstStyle/>
                    <a:p>
                      <a:r>
                        <a:rPr lang="en-US" sz="1600" b="0" dirty="0">
                          <a:latin typeface="Times New Roman" panose="02020603050405020304" pitchFamily="18" charset="0"/>
                          <a:cs typeface="Times New Roman" panose="02020603050405020304" pitchFamily="18" charset="0"/>
                        </a:rPr>
                        <a:t>3</a:t>
                      </a:r>
                      <a:endParaRPr lang="en-US" sz="1200" b="0" dirty="0">
                        <a:latin typeface="Times New Roman" panose="02020603050405020304" pitchFamily="18" charset="0"/>
                        <a:cs typeface="Times New Roman" panose="02020603050405020304" pitchFamily="18" charset="0"/>
                      </a:endParaRPr>
                    </a:p>
                  </a:txBody>
                  <a:tcPr/>
                </a:tc>
                <a:tc>
                  <a:txBody>
                    <a:bodyPr/>
                    <a:lstStyle/>
                    <a:p>
                      <a:r>
                        <a:rPr lang="en-IN" sz="1600" b="0" kern="1200" dirty="0" smtClean="0">
                          <a:solidFill>
                            <a:schemeClr val="dk1"/>
                          </a:solidFill>
                          <a:effectLst/>
                          <a:latin typeface="Times New Roman" panose="02020603050405020304" pitchFamily="18" charset="0"/>
                          <a:ea typeface="+mn-ea"/>
                          <a:cs typeface="Times New Roman" panose="02020603050405020304" pitchFamily="18" charset="0"/>
                        </a:rPr>
                        <a:t>Gamification as an e-learning tool: A Literature Review.</a:t>
                      </a:r>
                      <a:endParaRPr lang="en-US" sz="1000" b="0" dirty="0">
                        <a:latin typeface="Times New Roman" panose="02020603050405020304" pitchFamily="18" charset="0"/>
                        <a:cs typeface="Times New Roman" panose="02020603050405020304" pitchFamily="18" charset="0"/>
                      </a:endParaRPr>
                    </a:p>
                  </a:txBody>
                  <a:tcPr/>
                </a:tc>
                <a:tc>
                  <a:txBody>
                    <a:bodyPr/>
                    <a:lstStyle/>
                    <a:p>
                      <a:r>
                        <a:rPr lang="en-IN" sz="1600" b="0" kern="1200" dirty="0" smtClean="0">
                          <a:solidFill>
                            <a:schemeClr val="dk1"/>
                          </a:solidFill>
                          <a:effectLst/>
                          <a:latin typeface="Times New Roman" panose="02020603050405020304" pitchFamily="18" charset="0"/>
                          <a:ea typeface="+mn-ea"/>
                          <a:cs typeface="Times New Roman" panose="02020603050405020304" pitchFamily="18" charset="0"/>
                        </a:rPr>
                        <a:t>E-Learning Innovations Journal. </a:t>
                      </a:r>
                      <a:endParaRPr lang="en-US" sz="10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kern="1200" dirty="0" smtClean="0">
                          <a:solidFill>
                            <a:schemeClr val="dk1"/>
                          </a:solidFill>
                          <a:effectLst/>
                          <a:latin typeface="Times New Roman" panose="02020603050405020304" pitchFamily="18" charset="0"/>
                          <a:ea typeface="+mn-ea"/>
                          <a:cs typeface="Times New Roman" panose="02020603050405020304" pitchFamily="18" charset="0"/>
                        </a:rPr>
                        <a:t>The results of the literature review indicate the need to systematize the existing gamification potential. Gamification of e-learning is becoming a real trend in the modern educational space. Online gaming platforms are gaining popularity among students due to their clear design and the demand for the digital cluster in the worldview paradigm of modern society.</a:t>
                      </a:r>
                      <a:endParaRPr lang="en-US" sz="1050" b="0" dirty="0">
                        <a:latin typeface="Times New Roman" panose="02020603050405020304" pitchFamily="18" charset="0"/>
                        <a:cs typeface="Times New Roman" panose="02020603050405020304" pitchFamily="18" charset="0"/>
                      </a:endParaRPr>
                    </a:p>
                  </a:txBody>
                  <a:tcPr/>
                </a:tc>
                <a:tc>
                  <a:txBody>
                    <a:bodyPr/>
                    <a:lstStyle/>
                    <a:p>
                      <a:r>
                        <a:rPr lang="en-IN" sz="1600" b="1" smtClean="0"/>
                        <a:t>Focus on Format Over Content:</a:t>
                      </a:r>
                      <a:r>
                        <a:rPr lang="en-IN" sz="1600" smtClean="0"/>
                        <a:t>  </a:t>
                      </a:r>
                      <a:r>
                        <a:rPr lang="en-US" sz="1600" b="0" smtClean="0">
                          <a:latin typeface="Times New Roman" panose="02020603050405020304" pitchFamily="18" charset="0"/>
                          <a:cs typeface="Times New Roman" panose="02020603050405020304" pitchFamily="18" charset="0"/>
                        </a:rPr>
                        <a:t>A </a:t>
                      </a:r>
                      <a:r>
                        <a:rPr lang="en-US" sz="1600" b="0" dirty="0" smtClean="0">
                          <a:latin typeface="Times New Roman" panose="02020603050405020304" pitchFamily="18" charset="0"/>
                          <a:cs typeface="Times New Roman" panose="02020603050405020304" pitchFamily="18" charset="0"/>
                        </a:rPr>
                        <a:t>key problem is ensuring the focus remains on the educational content itself, rather than getting lost in the game's format and design.</a:t>
                      </a:r>
                    </a:p>
                    <a:p>
                      <a:r>
                        <a:rPr lang="en-IN" sz="1600" b="1" smtClean="0"/>
                        <a:t>Lack of Clear Implementation:</a:t>
                      </a:r>
                      <a:r>
                        <a:rPr lang="en-IN" sz="1600" smtClean="0"/>
                        <a:t> </a:t>
                      </a:r>
                      <a:r>
                        <a:rPr lang="en-US" sz="1600" b="0" smtClean="0">
                          <a:latin typeface="Times New Roman" panose="02020603050405020304" pitchFamily="18" charset="0"/>
                          <a:cs typeface="Times New Roman" panose="02020603050405020304" pitchFamily="18" charset="0"/>
                        </a:rPr>
                        <a:t>There </a:t>
                      </a:r>
                      <a:r>
                        <a:rPr lang="en-US" sz="1600" b="0" dirty="0" smtClean="0">
                          <a:latin typeface="Times New Roman" panose="02020603050405020304" pitchFamily="18" charset="0"/>
                          <a:cs typeface="Times New Roman" panose="02020603050405020304" pitchFamily="18" charset="0"/>
                        </a:rPr>
                        <a:t>is no single, clear algorithm for how to best implement and integrate gamification into educational activities.</a:t>
                      </a:r>
                      <a:endParaRPr lang="en-US" sz="1600" b="0" dirty="0">
                        <a:latin typeface="Times New Roman" panose="02020603050405020304" pitchFamily="18" charset="0"/>
                        <a:cs typeface="Times New Roman" panose="02020603050405020304" pitchFamily="18" charset="0"/>
                      </a:endParaRPr>
                    </a:p>
                  </a:txBody>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850502809"/>
              </p:ext>
            </p:extLst>
          </p:nvPr>
        </p:nvGraphicFramePr>
        <p:xfrm>
          <a:off x="220662" y="103821"/>
          <a:ext cx="11742739" cy="640080"/>
        </p:xfrm>
        <a:graphic>
          <a:graphicData uri="http://schemas.openxmlformats.org/drawingml/2006/table">
            <a:tbl>
              <a:tblPr firstRow="1" bandRow="1">
                <a:tableStyleId>{5C22544A-7EE6-4342-B048-85BDC9FD1C3A}</a:tableStyleId>
              </a:tblPr>
              <a:tblGrid>
                <a:gridCol w="836461"/>
                <a:gridCol w="1736877"/>
                <a:gridCol w="1955800"/>
                <a:gridCol w="3218408"/>
                <a:gridCol w="3995193"/>
              </a:tblGrid>
              <a:tr h="439737">
                <a:tc>
                  <a:txBody>
                    <a:bodyPr/>
                    <a:lstStyle/>
                    <a:p>
                      <a:pPr algn="ctr"/>
                      <a:r>
                        <a:rPr lang="en-US" dirty="0">
                          <a:latin typeface="Times New Roman" panose="02020603050405020304" pitchFamily="18" charset="0"/>
                          <a:cs typeface="Times New Roman" panose="02020603050405020304" pitchFamily="18" charset="0"/>
                        </a:rPr>
                        <a:t>Sr No</a:t>
                      </a:r>
                    </a:p>
                  </a:txBody>
                  <a:tcPr/>
                </a:tc>
                <a:tc>
                  <a:txBody>
                    <a:bodyPr/>
                    <a:lstStyle/>
                    <a:p>
                      <a:pPr algn="ctr"/>
                      <a:r>
                        <a:rPr lang="en-US" dirty="0" smtClean="0">
                          <a:latin typeface="Times New Roman" panose="02020603050405020304" pitchFamily="18" charset="0"/>
                          <a:cs typeface="Times New Roman" panose="02020603050405020304" pitchFamily="18" charset="0"/>
                        </a:rPr>
                        <a:t>Title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Publication Details</a:t>
                      </a:r>
                    </a:p>
                  </a:txBody>
                  <a:tcPr/>
                </a:tc>
                <a:tc>
                  <a:txBody>
                    <a:bodyPr/>
                    <a:lstStyle/>
                    <a:p>
                      <a:pPr algn="ctr"/>
                      <a:r>
                        <a:rPr lang="en-US" dirty="0">
                          <a:latin typeface="Times New Roman" panose="02020603050405020304" pitchFamily="18" charset="0"/>
                          <a:cs typeface="Times New Roman" panose="02020603050405020304" pitchFamily="18" charset="0"/>
                        </a:rPr>
                        <a:t>Seed Idea</a:t>
                      </a:r>
                    </a:p>
                  </a:txBody>
                  <a:tcPr/>
                </a:tc>
                <a:tc>
                  <a:txBody>
                    <a:bodyPr/>
                    <a:lstStyle/>
                    <a:p>
                      <a:pPr algn="ctr"/>
                      <a:r>
                        <a:rPr lang="en-US" dirty="0">
                          <a:latin typeface="Times New Roman" panose="02020603050405020304" pitchFamily="18" charset="0"/>
                          <a:cs typeface="Times New Roman" panose="02020603050405020304" pitchFamily="18" charset="0"/>
                        </a:rPr>
                        <a:t>Drawbacks</a:t>
                      </a:r>
                    </a:p>
                  </a:txBody>
                  <a:tcPr/>
                </a:tc>
              </a:tr>
            </a:tbl>
          </a:graphicData>
        </a:graphic>
      </p:graphicFrame>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Tree>
    <p:extLst>
      <p:ext uri="{BB962C8B-B14F-4D97-AF65-F5344CB8AC3E}">
        <p14:creationId xmlns:p14="http://schemas.microsoft.com/office/powerpoint/2010/main" val="1743572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7" name="Slide Number Placeholder 6"/>
          <p:cNvSpPr>
            <a:spLocks noGrp="1"/>
          </p:cNvSpPr>
          <p:nvPr>
            <p:ph type="sldNum" sz="quarter" idx="12"/>
          </p:nvPr>
        </p:nvSpPr>
        <p:spPr/>
        <p:txBody>
          <a:bodyPr/>
          <a:lstStyle/>
          <a:p>
            <a:fld id="{4FAB73BC-B049-4115-A692-8D63A059BFB8}" type="slidenum">
              <a:rPr lang="en-US" smtClean="0"/>
              <a:t>9</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614963620"/>
              </p:ext>
            </p:extLst>
          </p:nvPr>
        </p:nvGraphicFramePr>
        <p:xfrm>
          <a:off x="258769" y="1320817"/>
          <a:ext cx="11590331" cy="2194560"/>
        </p:xfrm>
        <a:graphic>
          <a:graphicData uri="http://schemas.openxmlformats.org/drawingml/2006/table">
            <a:tbl>
              <a:tblPr firstRow="1" bandRow="1">
                <a:tableStyleId>{5C22544A-7EE6-4342-B048-85BDC9FD1C3A}</a:tableStyleId>
              </a:tblPr>
              <a:tblGrid>
                <a:gridCol w="836461"/>
                <a:gridCol w="1736877"/>
                <a:gridCol w="1955800"/>
                <a:gridCol w="3218408"/>
                <a:gridCol w="3842785"/>
              </a:tblGrid>
              <a:tr h="439737">
                <a:tc>
                  <a:txBody>
                    <a:bodyPr/>
                    <a:lstStyle/>
                    <a:p>
                      <a:pPr algn="l"/>
                      <a:r>
                        <a:rPr lang="en-US" b="1" dirty="0">
                          <a:latin typeface="Times New Roman" panose="02020603050405020304" pitchFamily="18" charset="0"/>
                          <a:cs typeface="Times New Roman" panose="02020603050405020304" pitchFamily="18" charset="0"/>
                        </a:rPr>
                        <a:t>Sr No</a:t>
                      </a:r>
                    </a:p>
                  </a:txBody>
                  <a:tcPr/>
                </a:tc>
                <a:tc>
                  <a:txBody>
                    <a:bodyPr/>
                    <a:lstStyle/>
                    <a:p>
                      <a:pPr algn="l"/>
                      <a:r>
                        <a:rPr lang="en-US" b="1" dirty="0" smtClean="0">
                          <a:latin typeface="Times New Roman" panose="02020603050405020304" pitchFamily="18" charset="0"/>
                          <a:cs typeface="Times New Roman" panose="02020603050405020304" pitchFamily="18" charset="0"/>
                        </a:rPr>
                        <a:t>Title</a:t>
                      </a:r>
                      <a:endParaRPr lang="en-US" b="1" dirty="0">
                        <a:latin typeface="Times New Roman" panose="02020603050405020304" pitchFamily="18" charset="0"/>
                        <a:cs typeface="Times New Roman" panose="02020603050405020304" pitchFamily="18" charset="0"/>
                      </a:endParaRPr>
                    </a:p>
                  </a:txBody>
                  <a:tcPr/>
                </a:tc>
                <a:tc>
                  <a:txBody>
                    <a:bodyPr/>
                    <a:lstStyle/>
                    <a:p>
                      <a:pPr algn="l"/>
                      <a:r>
                        <a:rPr lang="en-US" b="1" dirty="0">
                          <a:latin typeface="Times New Roman" panose="02020603050405020304" pitchFamily="18" charset="0"/>
                          <a:cs typeface="Times New Roman" panose="02020603050405020304" pitchFamily="18" charset="0"/>
                        </a:rPr>
                        <a:t>Publication Details</a:t>
                      </a:r>
                    </a:p>
                  </a:txBody>
                  <a:tcPr/>
                </a:tc>
                <a:tc>
                  <a:txBody>
                    <a:bodyPr/>
                    <a:lstStyle/>
                    <a:p>
                      <a:pPr algn="l"/>
                      <a:r>
                        <a:rPr lang="en-US" b="1" dirty="0">
                          <a:latin typeface="Times New Roman" panose="02020603050405020304" pitchFamily="18" charset="0"/>
                          <a:cs typeface="Times New Roman" panose="02020603050405020304" pitchFamily="18" charset="0"/>
                        </a:rPr>
                        <a:t>Seed Idea</a:t>
                      </a:r>
                    </a:p>
                  </a:txBody>
                  <a:tcPr/>
                </a:tc>
                <a:tc>
                  <a:txBody>
                    <a:bodyPr/>
                    <a:lstStyle/>
                    <a:p>
                      <a:pPr algn="l"/>
                      <a:r>
                        <a:rPr lang="en-US" b="1" dirty="0">
                          <a:latin typeface="Times New Roman" panose="02020603050405020304" pitchFamily="18" charset="0"/>
                          <a:cs typeface="Times New Roman" panose="02020603050405020304" pitchFamily="18" charset="0"/>
                        </a:rPr>
                        <a:t>Drawbacks</a:t>
                      </a:r>
                    </a:p>
                  </a:txBody>
                  <a:tcPr/>
                </a:tc>
              </a:tr>
              <a:tr h="439737">
                <a:tc>
                  <a:txBody>
                    <a:bodyPr/>
                    <a:lstStyle/>
                    <a:p>
                      <a:pPr algn="l"/>
                      <a:r>
                        <a:rPr lang="en-US" sz="1600" b="0" dirty="0" smtClean="0">
                          <a:latin typeface="Times New Roman" panose="02020603050405020304" pitchFamily="18" charset="0"/>
                          <a:cs typeface="Times New Roman" panose="02020603050405020304" pitchFamily="18" charset="0"/>
                        </a:rPr>
                        <a:t>4</a:t>
                      </a:r>
                      <a:endParaRPr lang="en-US" sz="1600" b="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smtClean="0">
                          <a:solidFill>
                            <a:schemeClr val="dk1"/>
                          </a:solidFill>
                          <a:effectLst/>
                          <a:latin typeface="Times New Roman" panose="02020603050405020304" pitchFamily="18" charset="0"/>
                          <a:ea typeface="+mn-ea"/>
                          <a:cs typeface="Times New Roman" panose="02020603050405020304" pitchFamily="18" charset="0"/>
                        </a:rPr>
                        <a:t>Centre for Law &amp; Policy Research’s platform: ConstitutionofIndia.net</a:t>
                      </a:r>
                      <a:endParaRPr lang="en-US" sz="1400" b="0" dirty="0">
                        <a:latin typeface="Times New Roman" panose="02020603050405020304" pitchFamily="18" charset="0"/>
                        <a:cs typeface="Times New Roman" panose="02020603050405020304" pitchFamily="18" charset="0"/>
                      </a:endParaRPr>
                    </a:p>
                  </a:txBody>
                  <a:tcPr/>
                </a:tc>
                <a:tc>
                  <a:txBody>
                    <a:bodyPr/>
                    <a:lstStyle/>
                    <a:p>
                      <a:pPr algn="l"/>
                      <a:r>
                        <a:rPr lang="en-US" sz="1600" b="0" dirty="0" smtClean="0">
                          <a:latin typeface="Times New Roman" panose="02020603050405020304" pitchFamily="18" charset="0"/>
                          <a:cs typeface="Times New Roman" panose="02020603050405020304" pitchFamily="18" charset="0"/>
                        </a:rPr>
                        <a:t>Website</a:t>
                      </a:r>
                      <a:r>
                        <a:rPr lang="en-US" sz="1600" b="0" baseline="0" dirty="0" smtClean="0">
                          <a:latin typeface="Times New Roman" panose="02020603050405020304" pitchFamily="18" charset="0"/>
                          <a:cs typeface="Times New Roman" panose="02020603050405020304" pitchFamily="18" charset="0"/>
                        </a:rPr>
                        <a:t> On Internet</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The website ConstitutionofIndia.net is a flagship initiative by the Centre for Law &amp; Policy Research focused on building a “constitutional culture” through digital public-goods tools.</a:t>
                      </a:r>
                    </a:p>
                    <a:p>
                      <a:pPr algn="l"/>
                      <a:endParaRPr lang="en-US" sz="1600" b="0" dirty="0">
                        <a:latin typeface="Times New Roman" panose="02020603050405020304" pitchFamily="18" charset="0"/>
                        <a:cs typeface="Times New Roman" panose="02020603050405020304" pitchFamily="18" charset="0"/>
                      </a:endParaRPr>
                    </a:p>
                  </a:txBody>
                  <a:tcPr/>
                </a:tc>
                <a:tc>
                  <a:txBody>
                    <a:bodyPr/>
                    <a:lstStyle/>
                    <a:p>
                      <a:pPr lvl="0"/>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Primarily oriented to archival/textual/debate materials; less emphasis on interactive, gamified learning for lay citizens or youth.</a:t>
                      </a:r>
                    </a:p>
                    <a:p>
                      <a:pPr lvl="0"/>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Does not include strong gamification or AI-</a:t>
                      </a:r>
                      <a:r>
                        <a:rPr lang="en-IN" sz="1600" kern="1200" dirty="0" err="1" smtClean="0">
                          <a:solidFill>
                            <a:schemeClr val="dk1"/>
                          </a:solidFill>
                          <a:effectLst/>
                          <a:latin typeface="Times New Roman" panose="02020603050405020304" pitchFamily="18" charset="0"/>
                          <a:ea typeface="+mn-ea"/>
                          <a:cs typeface="Times New Roman" panose="02020603050405020304" pitchFamily="18" charset="0"/>
                        </a:rPr>
                        <a:t>chatbot</a:t>
                      </a:r>
                      <a:r>
                        <a:rPr lang="en-IN" sz="1600" kern="1200" dirty="0" smtClean="0">
                          <a:solidFill>
                            <a:schemeClr val="dk1"/>
                          </a:solidFill>
                          <a:effectLst/>
                          <a:latin typeface="Times New Roman" panose="02020603050405020304" pitchFamily="18" charset="0"/>
                          <a:ea typeface="+mn-ea"/>
                          <a:cs typeface="Times New Roman" panose="02020603050405020304" pitchFamily="18" charset="0"/>
                        </a:rPr>
                        <a:t> components designed for engagement.</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018023611"/>
              </p:ext>
            </p:extLst>
          </p:nvPr>
        </p:nvGraphicFramePr>
        <p:xfrm>
          <a:off x="258768" y="3543433"/>
          <a:ext cx="11590331" cy="2286000"/>
        </p:xfrm>
        <a:graphic>
          <a:graphicData uri="http://schemas.openxmlformats.org/drawingml/2006/table">
            <a:tbl>
              <a:tblPr firstRow="1" bandRow="1">
                <a:tableStyleId>{5C22544A-7EE6-4342-B048-85BDC9FD1C3A}</a:tableStyleId>
              </a:tblPr>
              <a:tblGrid>
                <a:gridCol w="836461"/>
                <a:gridCol w="1736877"/>
                <a:gridCol w="1955800"/>
                <a:gridCol w="3218408"/>
                <a:gridCol w="3842785"/>
              </a:tblGrid>
              <a:tr h="439737">
                <a:tc>
                  <a:txBody>
                    <a:bodyPr/>
                    <a:lstStyle/>
                    <a:p>
                      <a:pPr algn="l"/>
                      <a:r>
                        <a:rPr lang="en-US" sz="1600" b="0" dirty="0" smtClean="0">
                          <a:latin typeface="Times New Roman" panose="02020603050405020304" pitchFamily="18" charset="0"/>
                          <a:cs typeface="Times New Roman" panose="02020603050405020304" pitchFamily="18" charset="0"/>
                        </a:rPr>
                        <a:t>5</a:t>
                      </a:r>
                      <a:endParaRPr lang="en-US" sz="1600" b="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Constitution of India (UPSC) </a:t>
                      </a:r>
                      <a:endParaRPr lang="en-US" sz="1600" b="0" dirty="0">
                        <a:latin typeface="Times New Roman" panose="02020603050405020304" pitchFamily="18" charset="0"/>
                        <a:cs typeface="Times New Roman" panose="02020603050405020304" pitchFamily="18" charset="0"/>
                      </a:endParaRPr>
                    </a:p>
                  </a:txBody>
                  <a:tcPr/>
                </a:tc>
                <a:tc>
                  <a:txBody>
                    <a:bodyPr/>
                    <a:lstStyle/>
                    <a:p>
                      <a:pPr algn="l"/>
                      <a:r>
                        <a:rPr lang="en-US" sz="1600" b="0" dirty="0" smtClean="0">
                          <a:latin typeface="Times New Roman" panose="02020603050405020304" pitchFamily="18" charset="0"/>
                          <a:cs typeface="Times New Roman" panose="02020603050405020304" pitchFamily="18" charset="0"/>
                        </a:rPr>
                        <a:t>App on</a:t>
                      </a:r>
                      <a:r>
                        <a:rPr lang="en-US" sz="1600" b="0" baseline="0" dirty="0" smtClean="0">
                          <a:latin typeface="Times New Roman" panose="02020603050405020304" pitchFamily="18" charset="0"/>
                          <a:cs typeface="Times New Roman" panose="02020603050405020304" pitchFamily="18" charset="0"/>
                        </a:rPr>
                        <a:t> </a:t>
                      </a:r>
                      <a:r>
                        <a:rPr lang="en-US" sz="1600" b="0" baseline="0" dirty="0" err="1" smtClean="0">
                          <a:latin typeface="Times New Roman" panose="02020603050405020304" pitchFamily="18" charset="0"/>
                          <a:cs typeface="Times New Roman" panose="02020603050405020304" pitchFamily="18" charset="0"/>
                        </a:rPr>
                        <a:t>Playstore</a:t>
                      </a:r>
                      <a:endParaRPr lang="en-US" sz="1600" b="0" dirty="0">
                        <a:latin typeface="Times New Roman" panose="02020603050405020304" pitchFamily="18" charset="0"/>
                        <a:cs typeface="Times New Roman" panose="02020603050405020304" pitchFamily="18" charset="0"/>
                      </a:endParaRPr>
                    </a:p>
                  </a:txBody>
                  <a:tcPr/>
                </a:tc>
                <a:tc>
                  <a:txBody>
                    <a:bodyPr/>
                    <a:lstStyle/>
                    <a:p>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This app is designed primarily for aspirants of UPSC, SSC, and other civil service examinations. It provides comprehensive coverage of all articles, amendments, and schedules of the Indian Constitution. Its key focus lies in accuracy, offline accessibility, and exam-oriented structuring of content.</a:t>
                      </a:r>
                      <a:endParaRPr lang="en-US" sz="1600" b="0" dirty="0">
                        <a:latin typeface="Times New Roman" panose="02020603050405020304" pitchFamily="18" charset="0"/>
                        <a:cs typeface="Times New Roman" panose="02020603050405020304" pitchFamily="18" charset="0"/>
                      </a:endParaRPr>
                    </a:p>
                  </a:txBody>
                  <a:tcPr/>
                </a:tc>
                <a:tc>
                  <a:txBody>
                    <a:bodyPr/>
                    <a:lstStyle/>
                    <a:p>
                      <a:pPr lvl="0"/>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Focuses mainly on exam preparation, not conceptual understanding</a:t>
                      </a:r>
                    </a:p>
                    <a:p>
                      <a:pPr lvl="0"/>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Lacks AI interaction or guidance for complex constitutional terms</a:t>
                      </a:r>
                    </a:p>
                    <a:p>
                      <a:pPr lvl="0"/>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No gamified experience to maintain engagement</a:t>
                      </a:r>
                    </a:p>
                    <a:p>
                      <a:pPr lvl="0"/>
                      <a:r>
                        <a:rPr lang="en-IN" sz="1600" b="0" kern="1200" dirty="0" smtClean="0">
                          <a:solidFill>
                            <a:schemeClr val="lt1"/>
                          </a:solidFill>
                          <a:effectLst/>
                          <a:latin typeface="Times New Roman" panose="02020603050405020304" pitchFamily="18" charset="0"/>
                          <a:ea typeface="+mn-ea"/>
                          <a:cs typeface="Times New Roman" panose="02020603050405020304" pitchFamily="18" charset="0"/>
                        </a:rPr>
                        <a:t>Limited to student does not support civic engagement</a:t>
                      </a:r>
                      <a:endParaRPr lang="en-IN" sz="1600" b="0" kern="1200" dirty="0">
                        <a:solidFill>
                          <a:schemeClr val="lt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436004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10</a:t>
            </a:fld>
            <a:endParaRPr lang="en-US" dirty="0"/>
          </a:p>
        </p:txBody>
      </p:sp>
      <p:sp>
        <p:nvSpPr>
          <p:cNvPr id="8" name="Rectangle 7"/>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584200" y="749317"/>
            <a:ext cx="3835400" cy="5715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Scope of the project</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84200" y="1320817"/>
            <a:ext cx="9114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84200" y="1589842"/>
            <a:ext cx="5969000"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Inclusion:</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Development of an interactive web platform for learning the Constitution of India.</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Integration </a:t>
            </a:r>
            <a:r>
              <a:rPr lang="en-US" sz="2000" dirty="0">
                <a:latin typeface="Times New Roman" panose="02020603050405020304" pitchFamily="18" charset="0"/>
                <a:cs typeface="Times New Roman" panose="02020603050405020304" pitchFamily="18" charset="0"/>
              </a:rPr>
              <a:t>of educational games, quizzes, and visual content to enhance engagement.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User-friendly interface suitable for students and general public.</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Accessibility on both desktop and mobile devices for wider reach</a:t>
            </a:r>
            <a:r>
              <a:rPr lang="en-US" sz="2000" dirty="0" smtClean="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t>
            </a:r>
            <a:r>
              <a:rPr lang="en-US" sz="2000" dirty="0" smtClean="0">
                <a:latin typeface="Times New Roman" panose="02020603050405020304" pitchFamily="18" charset="0"/>
                <a:cs typeface="Times New Roman" panose="02020603050405020304" pitchFamily="18" charset="0"/>
              </a:rPr>
              <a:t>the Constitution of India.</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Multilingual translation </a:t>
            </a:r>
            <a:r>
              <a:rPr lang="en-US" sz="2000" dirty="0" smtClean="0">
                <a:latin typeface="Times New Roman" panose="02020603050405020304" pitchFamily="18" charset="0"/>
                <a:cs typeface="Times New Roman" panose="02020603050405020304" pitchFamily="18" charset="0"/>
              </a:rPr>
              <a:t>features.</a:t>
            </a:r>
          </a:p>
          <a:p>
            <a:pPr>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AI-Assistance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Modules covering key topics such as Preamble, Fundamental Rights, Duties, and Directive Principles.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3" name="Rectangle 12"/>
          <p:cNvSpPr/>
          <p:nvPr/>
        </p:nvSpPr>
        <p:spPr>
          <a:xfrm>
            <a:off x="6819900" y="1592184"/>
            <a:ext cx="4864100" cy="1938992"/>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Exclusion:</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advanced legal or judicial interpretations of the Constitution.</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Offline learning or mobile app version (web-based only).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discussion </a:t>
            </a:r>
            <a:r>
              <a:rPr lang="en-US" sz="2000" dirty="0" smtClean="0">
                <a:latin typeface="Times New Roman" panose="02020603050405020304" pitchFamily="18" charset="0"/>
                <a:cs typeface="Times New Roman" panose="02020603050405020304" pitchFamily="18" charset="0"/>
              </a:rPr>
              <a:t>forums.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019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11</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444500" y="67978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44500" y="1217963"/>
            <a:ext cx="9254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44500" y="1525289"/>
            <a:ext cx="5562600" cy="3785652"/>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Functional Requirements:</a:t>
            </a:r>
            <a:endParaRPr lang="en-US" sz="2000"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User Management:</a:t>
            </a:r>
            <a:r>
              <a:rPr lang="en-US" sz="2000" dirty="0" smtClean="0">
                <a:latin typeface="Times New Roman" panose="02020603050405020304" pitchFamily="18" charset="0"/>
                <a:cs typeface="Times New Roman" panose="02020603050405020304" pitchFamily="18" charset="0"/>
              </a:rPr>
              <a:t> Users must be able to register, log in, and manage their profiles.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Gamified Modules:</a:t>
            </a:r>
            <a:r>
              <a:rPr lang="en-US" sz="2000" dirty="0" smtClean="0">
                <a:latin typeface="Times New Roman" panose="02020603050405020304" pitchFamily="18" charset="0"/>
                <a:cs typeface="Times New Roman" panose="02020603050405020304" pitchFamily="18" charset="0"/>
              </a:rPr>
              <a:t> The system will provide various interactive modules like quizzes, puzzles, and scenarios.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Progress Tracking:</a:t>
            </a:r>
            <a:r>
              <a:rPr lang="en-US" sz="2000" dirty="0" smtClean="0">
                <a:latin typeface="Times New Roman" panose="02020603050405020304" pitchFamily="18" charset="0"/>
                <a:cs typeface="Times New Roman" panose="02020603050405020304" pitchFamily="18" charset="0"/>
              </a:rPr>
              <a:t> The platform must track and display user progress, scores, and achievements.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Leaderboard:</a:t>
            </a:r>
            <a:r>
              <a:rPr lang="en-US" sz="2000" dirty="0" smtClean="0">
                <a:latin typeface="Times New Roman" panose="02020603050405020304" pitchFamily="18" charset="0"/>
                <a:cs typeface="Times New Roman" panose="02020603050405020304" pitchFamily="18" charset="0"/>
              </a:rPr>
              <a:t> A system to rank users based on their scores and display the rankings.</a:t>
            </a:r>
          </a:p>
          <a:p>
            <a:pPr>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Content Management:</a:t>
            </a:r>
            <a:r>
              <a:rPr lang="en-US" sz="2000" dirty="0" smtClean="0">
                <a:latin typeface="Times New Roman" panose="02020603050405020304" pitchFamily="18" charset="0"/>
                <a:cs typeface="Times New Roman" panose="02020603050405020304" pitchFamily="18" charset="0"/>
              </a:rPr>
              <a:t> An admin interface to add, update, and manage educational content.</a:t>
            </a:r>
            <a:endParaRPr lang="en-US" sz="2000" dirty="0">
              <a:latin typeface="Times New Roman" panose="02020603050405020304" pitchFamily="18" charset="0"/>
              <a:cs typeface="Times New Roman" panose="02020603050405020304" pitchFamily="18" charset="0"/>
            </a:endParaRPr>
          </a:p>
        </p:txBody>
      </p:sp>
      <p:sp>
        <p:nvSpPr>
          <p:cNvPr id="14" name="Rectangle 13"/>
          <p:cNvSpPr/>
          <p:nvPr/>
        </p:nvSpPr>
        <p:spPr>
          <a:xfrm>
            <a:off x="6362700" y="1525288"/>
            <a:ext cx="5448300" cy="409342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Non-Functional Requirements: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a:t>
            </a:r>
            <a:r>
              <a:rPr lang="en-US" sz="2000" dirty="0">
                <a:latin typeface="Times New Roman" panose="02020603050405020304" pitchFamily="18" charset="0"/>
                <a:cs typeface="Times New Roman" panose="02020603050405020304" pitchFamily="18" charset="0"/>
              </a:rPr>
              <a:t> Web pages and games should load within 3 seconds.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Usability:</a:t>
            </a:r>
            <a:r>
              <a:rPr lang="en-US" sz="2000" dirty="0">
                <a:latin typeface="Times New Roman" panose="02020603050405020304" pitchFamily="18" charset="0"/>
                <a:cs typeface="Times New Roman" panose="02020603050405020304" pitchFamily="18" charset="0"/>
              </a:rPr>
              <a:t> The interface must be intuitive, responsive, and accessible across major browsers and devices.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The architecture must support a minimum of 1,000 concurrent users.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Security:</a:t>
            </a:r>
            <a:r>
              <a:rPr lang="en-US" sz="2000" dirty="0">
                <a:latin typeface="Times New Roman" panose="02020603050405020304" pitchFamily="18" charset="0"/>
                <a:cs typeface="Times New Roman" panose="02020603050405020304" pitchFamily="18" charset="0"/>
              </a:rPr>
              <a:t> All user data, especially personal information and passwords, must be encrypted and stored securely.</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Reliability:</a:t>
            </a:r>
            <a:r>
              <a:rPr lang="en-US" sz="2000" dirty="0">
                <a:latin typeface="Times New Roman" panose="02020603050405020304" pitchFamily="18" charset="0"/>
                <a:cs typeface="Times New Roman" panose="02020603050405020304" pitchFamily="18" charset="0"/>
              </a:rPr>
              <a:t> The system should have an uptime of 99.9%.</a:t>
            </a:r>
          </a:p>
        </p:txBody>
      </p:sp>
    </p:spTree>
    <p:extLst>
      <p:ext uri="{BB962C8B-B14F-4D97-AF65-F5344CB8AC3E}">
        <p14:creationId xmlns:p14="http://schemas.microsoft.com/office/powerpoint/2010/main" val="1607749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Rectangle 8"/>
          <p:cNvSpPr/>
          <p:nvPr/>
        </p:nvSpPr>
        <p:spPr>
          <a:xfrm>
            <a:off x="3818690" y="64666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12</a:t>
            </a:fld>
            <a:endParaRPr lang="en-US" dirty="0"/>
          </a:p>
        </p:txBody>
      </p:sp>
      <p:sp>
        <p:nvSpPr>
          <p:cNvPr id="11" name="Rectangle 10"/>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2" name="Rectangle 11"/>
          <p:cNvSpPr/>
          <p:nvPr/>
        </p:nvSpPr>
        <p:spPr>
          <a:xfrm>
            <a:off x="489435" y="1424218"/>
            <a:ext cx="5720865" cy="4401205"/>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Hardware Requirements:</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Server:</a:t>
            </a:r>
            <a:endParaRPr lang="en-US"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CPU: 2-core Processor</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4 GB</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Storage: 50 GB </a:t>
            </a:r>
            <a:r>
              <a:rPr lang="en-US" sz="2000" dirty="0" smtClean="0">
                <a:latin typeface="Times New Roman" panose="02020603050405020304" pitchFamily="18" charset="0"/>
                <a:cs typeface="Times New Roman" panose="02020603050405020304" pitchFamily="18" charset="0"/>
              </a:rPr>
              <a:t>SSD</a:t>
            </a:r>
            <a:endParaRPr 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Client:</a:t>
            </a:r>
            <a:endParaRPr lang="en-US"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desktop, laptop, tablet, or smartphone with at least 2GB RAM and internet access.</a:t>
            </a:r>
          </a:p>
          <a:p>
            <a:r>
              <a:rPr lang="en-US" sz="2000" b="1" dirty="0">
                <a:latin typeface="Times New Roman" panose="02020603050405020304" pitchFamily="18" charset="0"/>
                <a:cs typeface="Times New Roman" panose="02020603050405020304" pitchFamily="18" charset="0"/>
              </a:rPr>
              <a:t>Hardware Availability:</a:t>
            </a:r>
            <a:r>
              <a:rPr lang="en-US" sz="2000" dirty="0">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required hardware for both server and client is readily available and consists of standard consumer and enterprise-grade components. No specialized hardware is needed.</a:t>
            </a:r>
          </a:p>
        </p:txBody>
      </p:sp>
      <p:sp>
        <p:nvSpPr>
          <p:cNvPr id="13" name="Rectangle 12"/>
          <p:cNvSpPr/>
          <p:nvPr/>
        </p:nvSpPr>
        <p:spPr>
          <a:xfrm>
            <a:off x="6509673" y="1424218"/>
            <a:ext cx="4702810" cy="3785652"/>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Software Requirements:</a:t>
            </a:r>
            <a:endParaRPr lang="en-IN"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Server:</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a:t>
            </a:r>
            <a:r>
              <a:rPr lang="en-IN" sz="2000" dirty="0" smtClean="0">
                <a:latin typeface="Times New Roman" panose="02020603050405020304" pitchFamily="18" charset="0"/>
                <a:cs typeface="Times New Roman" panose="02020603050405020304" pitchFamily="18" charset="0"/>
              </a:rPr>
              <a:t>Windows, Linux </a:t>
            </a:r>
            <a:r>
              <a:rPr lang="en-IN" sz="2000" dirty="0">
                <a:latin typeface="Times New Roman" panose="02020603050405020304" pitchFamily="18" charset="0"/>
                <a:cs typeface="Times New Roman" panose="02020603050405020304" pitchFamily="18" charset="0"/>
              </a:rPr>
              <a:t>(e.g., Ubuntu 20.04+)</a:t>
            </a: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Web </a:t>
            </a:r>
            <a:r>
              <a:rPr lang="en-IN" sz="2000" dirty="0" smtClean="0">
                <a:latin typeface="Times New Roman" panose="02020603050405020304" pitchFamily="18" charset="0"/>
                <a:cs typeface="Times New Roman" panose="02020603050405020304" pitchFamily="18" charset="0"/>
              </a:rPr>
              <a:t>Server: Apache Tomcat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Database: </a:t>
            </a:r>
            <a:r>
              <a:rPr lang="en-IN" sz="2000" dirty="0" smtClean="0">
                <a:latin typeface="Times New Roman" panose="02020603050405020304" pitchFamily="18" charset="0"/>
                <a:cs typeface="Times New Roman" panose="02020603050405020304" pitchFamily="18" charset="0"/>
              </a:rPr>
              <a:t>MySQL</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Runtime Environment: Node.js 16.x+</a:t>
            </a:r>
          </a:p>
          <a:p>
            <a:pPr lvl="1">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Client: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modern web browser (latest versions of Chrome, Firefox, Safari, or Edge).</a:t>
            </a:r>
          </a:p>
        </p:txBody>
      </p:sp>
      <p:sp>
        <p:nvSpPr>
          <p:cNvPr id="14" name="Title 1"/>
          <p:cNvSpPr txBox="1">
            <a:spLocks/>
          </p:cNvSpPr>
          <p:nvPr/>
        </p:nvSpPr>
        <p:spPr>
          <a:xfrm>
            <a:off x="406400" y="68720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89435" y="1155193"/>
            <a:ext cx="92095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18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13</a:t>
            </a:fld>
            <a:endParaRPr lang="en-US" dirty="0"/>
          </a:p>
        </p:txBody>
      </p:sp>
      <p:sp>
        <p:nvSpPr>
          <p:cNvPr id="8" name="Rectangle 7"/>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533400" y="647141"/>
            <a:ext cx="2768600"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System Design</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33400" y="1206500"/>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33400" y="1367414"/>
            <a:ext cx="10506710" cy="4216539"/>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Home Module </a:t>
            </a:r>
            <a:r>
              <a:rPr lang="en-IN" dirty="0">
                <a:latin typeface="Times New Roman" panose="02020603050405020304" pitchFamily="18" charset="0"/>
                <a:cs typeface="Times New Roman" panose="02020603050405020304" pitchFamily="18" charset="0"/>
              </a:rPr>
              <a:t>– Displays introduction, navigation menu, and overview of the Constitution.</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Learning Module </a:t>
            </a:r>
            <a:r>
              <a:rPr lang="en-IN" dirty="0">
                <a:latin typeface="Times New Roman" panose="02020603050405020304" pitchFamily="18" charset="0"/>
                <a:cs typeface="Times New Roman" panose="02020603050405020304" pitchFamily="18" charset="0"/>
              </a:rPr>
              <a:t>– Explains topics like the Preamble, Fundamental Rights, Duties, and Directive Principles in a simple way.</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Games &amp; Quiz Module </a:t>
            </a:r>
            <a:r>
              <a:rPr lang="en-IN" dirty="0">
                <a:latin typeface="Times New Roman" panose="02020603050405020304" pitchFamily="18" charset="0"/>
                <a:cs typeface="Times New Roman" panose="02020603050405020304" pitchFamily="18" charset="0"/>
              </a:rPr>
              <a:t>– Offers interactive games and quizzes to test and improve knowledge.</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User Module </a:t>
            </a:r>
            <a:r>
              <a:rPr lang="en-IN" dirty="0">
                <a:latin typeface="Times New Roman" panose="02020603050405020304" pitchFamily="18" charset="0"/>
                <a:cs typeface="Times New Roman" panose="02020603050405020304" pitchFamily="18" charset="0"/>
              </a:rPr>
              <a:t>– Handles user registration, login, and progress tracking.</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Admin Module </a:t>
            </a:r>
            <a:r>
              <a:rPr lang="en-IN" dirty="0">
                <a:latin typeface="Times New Roman" panose="02020603050405020304" pitchFamily="18" charset="0"/>
                <a:cs typeface="Times New Roman" panose="02020603050405020304" pitchFamily="18" charset="0"/>
              </a:rPr>
              <a:t>– Enables admin to manage content, quizzes, and games.</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Feedback Module </a:t>
            </a:r>
            <a:r>
              <a:rPr lang="en-IN" dirty="0">
                <a:latin typeface="Times New Roman" panose="02020603050405020304" pitchFamily="18" charset="0"/>
                <a:cs typeface="Times New Roman" panose="02020603050405020304" pitchFamily="18" charset="0"/>
              </a:rPr>
              <a:t>– Collects user feedback and suggestions for improvement.</a:t>
            </a:r>
          </a:p>
          <a:p>
            <a:endParaRPr lang="en-IN" sz="10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AI Assistance Module </a:t>
            </a:r>
            <a:r>
              <a:rPr lang="en-IN" dirty="0">
                <a:latin typeface="Times New Roman" panose="02020603050405020304" pitchFamily="18" charset="0"/>
                <a:cs typeface="Times New Roman" panose="02020603050405020304" pitchFamily="18" charset="0"/>
              </a:rPr>
              <a:t>– Provides </a:t>
            </a:r>
            <a:r>
              <a:rPr lang="en-IN" dirty="0" err="1">
                <a:latin typeface="Times New Roman" panose="02020603050405020304" pitchFamily="18" charset="0"/>
                <a:cs typeface="Times New Roman" panose="02020603050405020304" pitchFamily="18" charset="0"/>
              </a:rPr>
              <a:t>chatbot</a:t>
            </a:r>
            <a:r>
              <a:rPr lang="en-IN" dirty="0">
                <a:latin typeface="Times New Roman" panose="02020603050405020304" pitchFamily="18" charset="0"/>
                <a:cs typeface="Times New Roman" panose="02020603050405020304" pitchFamily="18" charset="0"/>
              </a:rPr>
              <a:t>-based help, answers user queries</a:t>
            </a:r>
            <a:r>
              <a:rPr lang="en-IN" dirty="0" smtClean="0">
                <a:latin typeface="Times New Roman" panose="02020603050405020304" pitchFamily="18" charset="0"/>
                <a:cs typeface="Times New Roman" panose="02020603050405020304" pitchFamily="18" charset="0"/>
              </a:rPr>
              <a:t>, gives </a:t>
            </a:r>
            <a:r>
              <a:rPr lang="en-IN" dirty="0">
                <a:latin typeface="Times New Roman" panose="02020603050405020304" pitchFamily="18" charset="0"/>
                <a:cs typeface="Times New Roman" panose="02020603050405020304" pitchFamily="18" charset="0"/>
              </a:rPr>
              <a:t>study </a:t>
            </a:r>
            <a:r>
              <a:rPr lang="en-IN" dirty="0" smtClean="0">
                <a:latin typeface="Times New Roman" panose="02020603050405020304" pitchFamily="18" charset="0"/>
                <a:cs typeface="Times New Roman" panose="02020603050405020304" pitchFamily="18" charset="0"/>
              </a:rPr>
              <a:t>recommendations, </a:t>
            </a:r>
            <a:r>
              <a:rPr lang="en-IN" dirty="0">
                <a:latin typeface="Times New Roman" panose="02020603050405020304" pitchFamily="18" charset="0"/>
                <a:cs typeface="Times New Roman" panose="02020603050405020304" pitchFamily="18" charset="0"/>
              </a:rPr>
              <a:t>and </a:t>
            </a:r>
            <a:r>
              <a:rPr lang="en-IN" dirty="0" smtClean="0">
                <a:latin typeface="Times New Roman" panose="02020603050405020304" pitchFamily="18" charset="0"/>
                <a:cs typeface="Times New Roman" panose="02020603050405020304" pitchFamily="18" charset="0"/>
              </a:rPr>
              <a:t>explains with examples.</a:t>
            </a:r>
          </a:p>
          <a:p>
            <a:endParaRPr lang="en-IN" sz="1000" dirty="0" smtClean="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Evolution of Constitution Module</a:t>
            </a:r>
            <a:r>
              <a:rPr lang="en-US" dirty="0">
                <a:latin typeface="Times New Roman" panose="02020603050405020304" pitchFamily="18" charset="0"/>
                <a:cs typeface="Times New Roman" panose="02020603050405020304" pitchFamily="18" charset="0"/>
              </a:rPr>
              <a:t> – Explains the historical background, making of the Constitution, key committees, and important amendments in an interactive timeline format.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6387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p:nvPr/>
        </p:nvPicPr>
        <p:blipFill>
          <a:blip r:embed="rId2">
            <a:extLst>
              <a:ext uri="{28A0092B-C50C-407E-A947-70E740481C1C}">
                <a14:useLocalDpi xmlns:a14="http://schemas.microsoft.com/office/drawing/2010/main" val="0"/>
              </a:ext>
            </a:extLst>
          </a:blip>
          <a:stretch>
            <a:fillRect/>
          </a:stretch>
        </p:blipFill>
        <p:spPr>
          <a:xfrm>
            <a:off x="9698990" y="83409"/>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14</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457170" y="245324"/>
            <a:ext cx="502054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System Architecture Diagram</a:t>
            </a:r>
            <a:endParaRPr lang="en-IN" sz="3200" dirty="0">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87117" y="842816"/>
            <a:ext cx="90807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5211" y="855534"/>
            <a:ext cx="7089369" cy="5388855"/>
          </a:xfrm>
          <a:prstGeom prst="rect">
            <a:avLst/>
          </a:prstGeom>
        </p:spPr>
      </p:pic>
    </p:spTree>
    <p:extLst>
      <p:ext uri="{BB962C8B-B14F-4D97-AF65-F5344CB8AC3E}">
        <p14:creationId xmlns:p14="http://schemas.microsoft.com/office/powerpoint/2010/main" val="24848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15</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419070" y="136812"/>
            <a:ext cx="326563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Use Case Diagram</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1890" y="679784"/>
            <a:ext cx="7277100" cy="5587916"/>
          </a:xfrm>
          <a:prstGeom prst="rect">
            <a:avLst/>
          </a:prstGeom>
        </p:spPr>
      </p:pic>
    </p:spTree>
    <p:extLst>
      <p:ext uri="{BB962C8B-B14F-4D97-AF65-F5344CB8AC3E}">
        <p14:creationId xmlns:p14="http://schemas.microsoft.com/office/powerpoint/2010/main" val="2027085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16</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719892" y="339861"/>
            <a:ext cx="3297698"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Sequence Diagram</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4779" y="1068863"/>
            <a:ext cx="8475679" cy="5240880"/>
          </a:xfrm>
          <a:prstGeom prst="rect">
            <a:avLst/>
          </a:prstGeom>
        </p:spPr>
      </p:pic>
    </p:spTree>
    <p:extLst>
      <p:ext uri="{BB962C8B-B14F-4D97-AF65-F5344CB8AC3E}">
        <p14:creationId xmlns:p14="http://schemas.microsoft.com/office/powerpoint/2010/main" val="3450152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3" name="Slide Number Placeholder 2"/>
          <p:cNvSpPr>
            <a:spLocks noGrp="1"/>
          </p:cNvSpPr>
          <p:nvPr>
            <p:ph type="sldNum" sz="quarter" idx="12"/>
          </p:nvPr>
        </p:nvSpPr>
        <p:spPr/>
        <p:txBody>
          <a:bodyPr/>
          <a:lstStyle/>
          <a:p>
            <a:fld id="{4FAB73BC-B049-4115-A692-8D63A059BFB8}" type="slidenum">
              <a:rPr lang="en-US" smtClean="0"/>
              <a:t>17</a:t>
            </a:fld>
            <a:endParaRPr lang="en-US" dirty="0"/>
          </a:p>
        </p:txBody>
      </p:sp>
      <p:sp>
        <p:nvSpPr>
          <p:cNvPr id="10" name="Rectangle 9"/>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495891" y="153888"/>
            <a:ext cx="3068469"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Activity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4360" y="307777"/>
            <a:ext cx="5567807" cy="5984740"/>
          </a:xfrm>
          <a:prstGeom prst="rect">
            <a:avLst/>
          </a:prstGeom>
        </p:spPr>
      </p:pic>
    </p:spTree>
    <p:extLst>
      <p:ext uri="{BB962C8B-B14F-4D97-AF65-F5344CB8AC3E}">
        <p14:creationId xmlns:p14="http://schemas.microsoft.com/office/powerpoint/2010/main" val="1153322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4FAB73BC-B049-4115-A692-8D63A059BFB8}" type="slidenum">
              <a:rPr lang="en-US" smtClean="0"/>
              <a:t>18</a:t>
            </a:fld>
            <a:endParaRPr lang="en-US" dirty="0"/>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591412" y="125874"/>
            <a:ext cx="261481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Class </a:t>
            </a:r>
            <a:r>
              <a:rPr lang="en-US" sz="3200" dirty="0">
                <a:latin typeface="Times New Roman" panose="02020603050405020304" pitchFamily="18" charset="0"/>
                <a:cs typeface="Times New Roman" panose="02020603050405020304" pitchFamily="18" charset="0"/>
              </a:rPr>
              <a:t>Diagram</a:t>
            </a:r>
          </a:p>
        </p:txBody>
      </p:sp>
      <p:pic>
        <p:nvPicPr>
          <p:cNvPr id="13" name="Picture 12"/>
          <p:cNvPicPr/>
          <p:nvPr/>
        </p:nvPicPr>
        <p:blipFill>
          <a:blip r:embed="rId2">
            <a:extLst>
              <a:ext uri="{28A0092B-C50C-407E-A947-70E740481C1C}">
                <a14:useLocalDpi xmlns:a14="http://schemas.microsoft.com/office/drawing/2010/main" val="0"/>
              </a:ext>
            </a:extLst>
          </a:blip>
          <a:stretch>
            <a:fillRect/>
          </a:stretch>
        </p:blipFill>
        <p:spPr>
          <a:xfrm>
            <a:off x="9576271" y="110756"/>
            <a:ext cx="2493010" cy="1282065"/>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293" y="607987"/>
            <a:ext cx="7744586" cy="5636402"/>
          </a:xfrm>
          <a:prstGeom prst="rect">
            <a:avLst/>
          </a:prstGeom>
        </p:spPr>
      </p:pic>
    </p:spTree>
    <p:extLst>
      <p:ext uri="{BB962C8B-B14F-4D97-AF65-F5344CB8AC3E}">
        <p14:creationId xmlns:p14="http://schemas.microsoft.com/office/powerpoint/2010/main" val="1953574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19</a:t>
            </a:fld>
            <a:endParaRPr lang="en-US" dirty="0"/>
          </a:p>
        </p:txBody>
      </p:sp>
      <p:sp>
        <p:nvSpPr>
          <p:cNvPr id="3" name="Rectangle 2"/>
          <p:cNvSpPr/>
          <p:nvPr/>
        </p:nvSpPr>
        <p:spPr>
          <a:xfrm>
            <a:off x="362857" y="899886"/>
            <a:ext cx="11567885" cy="5078313"/>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Overview</a:t>
            </a:r>
          </a:p>
          <a:p>
            <a:pPr lvl="1"/>
            <a:r>
              <a:rPr lang="en-US" dirty="0" smtClean="0">
                <a:latin typeface="Times New Roman" panose="02020603050405020304" pitchFamily="18" charset="0"/>
                <a:cs typeface="Times New Roman" panose="02020603050405020304" pitchFamily="18" charset="0"/>
              </a:rPr>
              <a:t>Our platform </a:t>
            </a:r>
            <a:r>
              <a:rPr lang="en-US" dirty="0">
                <a:latin typeface="Times New Roman" panose="02020603050405020304" pitchFamily="18" charset="0"/>
                <a:cs typeface="Times New Roman" panose="02020603050405020304" pitchFamily="18" charset="0"/>
              </a:rPr>
              <a:t>integrates an AI-powered </a:t>
            </a:r>
            <a:r>
              <a:rPr lang="en-US" dirty="0" err="1">
                <a:latin typeface="Times New Roman" panose="02020603050405020304" pitchFamily="18" charset="0"/>
                <a:cs typeface="Times New Roman" panose="02020603050405020304" pitchFamily="18" charset="0"/>
              </a:rPr>
              <a:t>chatbot</a:t>
            </a:r>
            <a:r>
              <a:rPr lang="en-US" dirty="0">
                <a:latin typeface="Times New Roman" panose="02020603050405020304" pitchFamily="18" charset="0"/>
                <a:cs typeface="Times New Roman" panose="02020603050405020304" pitchFamily="18" charset="0"/>
              </a:rPr>
              <a:t> and interactive games to create an engaging and educational experience. We use a combination of Natural Language Processing, gamification principles, and a modern web development stack to bring the Constitution to life</a:t>
            </a:r>
            <a:r>
              <a:rPr lang="en-US" dirty="0" smtClean="0">
                <a:latin typeface="Times New Roman" panose="02020603050405020304" pitchFamily="18" charset="0"/>
                <a:cs typeface="Times New Roman" panose="02020603050405020304" pitchFamily="18" charset="0"/>
              </a:rPr>
              <a:t>.</a:t>
            </a:r>
          </a:p>
          <a:p>
            <a:pPr lvl="1"/>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b="1" dirty="0" err="1" smtClean="0">
                <a:latin typeface="Times New Roman" panose="02020603050405020304" pitchFamily="18" charset="0"/>
                <a:cs typeface="Times New Roman" panose="02020603050405020304" pitchFamily="18" charset="0"/>
              </a:rPr>
              <a:t>Chatbot</a:t>
            </a:r>
            <a:r>
              <a:rPr lang="en-US" b="1" dirty="0" smtClean="0">
                <a:latin typeface="Times New Roman" panose="02020603050405020304" pitchFamily="18" charset="0"/>
                <a:cs typeface="Times New Roman" panose="02020603050405020304" pitchFamily="18" charset="0"/>
              </a:rPr>
              <a:t> Assistant</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AI assistant is designed to answer user questions about the Constitution in a conversational and accurate </a:t>
            </a:r>
            <a:r>
              <a:rPr lang="en-US" dirty="0" smtClean="0">
                <a:latin typeface="Times New Roman" panose="02020603050405020304" pitchFamily="18" charset="0"/>
                <a:cs typeface="Times New Roman" panose="02020603050405020304" pitchFamily="18" charset="0"/>
              </a:rPr>
              <a:t>manner.</a:t>
            </a:r>
          </a:p>
          <a:p>
            <a:r>
              <a:rPr lang="en-US" b="1" dirty="0" smtClean="0">
                <a:latin typeface="Times New Roman" panose="02020603050405020304" pitchFamily="18" charset="0"/>
                <a:cs typeface="Times New Roman" panose="02020603050405020304" pitchFamily="18" charset="0"/>
              </a:rPr>
              <a:t>Core Technologies:</a:t>
            </a:r>
            <a:endParaRPr lang="en-US" dirty="0"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 Natural </a:t>
            </a:r>
            <a:r>
              <a:rPr lang="en-US" b="1" dirty="0">
                <a:latin typeface="Times New Roman" panose="02020603050405020304" pitchFamily="18" charset="0"/>
                <a:cs typeface="Times New Roman" panose="02020603050405020304" pitchFamily="18" charset="0"/>
              </a:rPr>
              <a:t>Language Processing (NLP):</a:t>
            </a:r>
            <a:r>
              <a:rPr lang="en-US" dirty="0">
                <a:latin typeface="Times New Roman" panose="02020603050405020304" pitchFamily="18" charset="0"/>
                <a:cs typeface="Times New Roman" panose="02020603050405020304" pitchFamily="18" charset="0"/>
              </a:rPr>
              <a:t> To understand and interpret user queries.</a:t>
            </a:r>
          </a:p>
          <a:p>
            <a:pPr lvl="1">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 Large </a:t>
            </a:r>
            <a:r>
              <a:rPr lang="en-US" b="1" dirty="0">
                <a:latin typeface="Times New Roman" panose="02020603050405020304" pitchFamily="18" charset="0"/>
                <a:cs typeface="Times New Roman" panose="02020603050405020304" pitchFamily="18" charset="0"/>
              </a:rPr>
              <a:t>Language Models (LLM):</a:t>
            </a:r>
            <a:r>
              <a:rPr lang="en-US" dirty="0">
                <a:latin typeface="Times New Roman" panose="02020603050405020304" pitchFamily="18" charset="0"/>
                <a:cs typeface="Times New Roman" panose="02020603050405020304" pitchFamily="18" charset="0"/>
              </a:rPr>
              <a:t> To generate human-like, context-aware responses.</a:t>
            </a:r>
          </a:p>
          <a:p>
            <a:pPr lvl="1">
              <a:buFont typeface="Arial" panose="020B0604020202020204" pitchFamily="34" charset="0"/>
              <a:buChar char="•"/>
            </a:pPr>
            <a:r>
              <a:rPr lang="en-US" b="1" dirty="0" smtClean="0">
                <a:latin typeface="Times New Roman" panose="02020603050405020304" pitchFamily="18" charset="0"/>
                <a:cs typeface="Times New Roman" panose="02020603050405020304" pitchFamily="18" charset="0"/>
              </a:rPr>
              <a:t> Vector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To efficiently search and retrieve relevant constitutional articles, amendments, and interpretations.</a:t>
            </a:r>
          </a:p>
          <a:p>
            <a:r>
              <a:rPr lang="en-US" b="1" dirty="0" smtClean="0">
                <a:latin typeface="Times New Roman" panose="02020603050405020304" pitchFamily="18" charset="0"/>
                <a:cs typeface="Times New Roman" panose="02020603050405020304" pitchFamily="18" charset="0"/>
              </a:rPr>
              <a:t>Algorithm </a:t>
            </a:r>
            <a:r>
              <a:rPr lang="en-US" b="1" dirty="0">
                <a:latin typeface="Times New Roman" panose="02020603050405020304" pitchFamily="18" charset="0"/>
                <a:cs typeface="Times New Roman" panose="02020603050405020304" pitchFamily="18" charset="0"/>
              </a:rPr>
              <a:t>Flow:</a:t>
            </a:r>
            <a:endParaRPr lang="en-US" dirty="0">
              <a:latin typeface="Times New Roman" panose="02020603050405020304" pitchFamily="18" charset="0"/>
              <a:cs typeface="Times New Roman" panose="02020603050405020304" pitchFamily="18" charset="0"/>
            </a:endParaRPr>
          </a:p>
          <a:p>
            <a:pPr lvl="1">
              <a:buFont typeface="+mj-lt"/>
              <a:buAutoNum type="arabicPeriod"/>
            </a:pPr>
            <a:r>
              <a:rPr lang="en-US" b="1" dirty="0" smtClean="0">
                <a:latin typeface="Times New Roman" panose="02020603050405020304" pitchFamily="18" charset="0"/>
                <a:cs typeface="Times New Roman" panose="02020603050405020304" pitchFamily="18" charset="0"/>
              </a:rPr>
              <a:t> Input </a:t>
            </a:r>
            <a:r>
              <a:rPr lang="en-US" b="1" dirty="0">
                <a:latin typeface="Times New Roman" panose="02020603050405020304" pitchFamily="18" charset="0"/>
                <a:cs typeface="Times New Roman" panose="02020603050405020304" pitchFamily="18" charset="0"/>
              </a:rPr>
              <a:t>Processing:</a:t>
            </a:r>
            <a:r>
              <a:rPr lang="en-US" dirty="0">
                <a:latin typeface="Times New Roman" panose="02020603050405020304" pitchFamily="18" charset="0"/>
                <a:cs typeface="Times New Roman" panose="02020603050405020304" pitchFamily="18" charset="0"/>
              </a:rPr>
              <a:t> The user asks a question (e.g., "What is the First Amendment?").</a:t>
            </a:r>
          </a:p>
          <a:p>
            <a:pPr lvl="1">
              <a:buFont typeface="+mj-lt"/>
              <a:buAutoNum type="arabicPeriod"/>
            </a:pPr>
            <a:r>
              <a:rPr lang="en-US" b="1" dirty="0" smtClean="0">
                <a:latin typeface="Times New Roman" panose="02020603050405020304" pitchFamily="18" charset="0"/>
                <a:cs typeface="Times New Roman" panose="02020603050405020304" pitchFamily="18" charset="0"/>
              </a:rPr>
              <a:t> Intent </a:t>
            </a:r>
            <a:r>
              <a:rPr lang="en-US" b="1" dirty="0">
                <a:latin typeface="Times New Roman" panose="02020603050405020304" pitchFamily="18" charset="0"/>
                <a:cs typeface="Times New Roman" panose="02020603050405020304" pitchFamily="18" charset="0"/>
              </a:rPr>
              <a:t>Recognition:</a:t>
            </a:r>
            <a:r>
              <a:rPr lang="en-US" dirty="0">
                <a:latin typeface="Times New Roman" panose="02020603050405020304" pitchFamily="18" charset="0"/>
                <a:cs typeface="Times New Roman" panose="02020603050405020304" pitchFamily="18" charset="0"/>
              </a:rPr>
              <a:t> The NLP model identifies the core intent of the query (e.g., seeking a definition).</a:t>
            </a:r>
          </a:p>
          <a:p>
            <a:pPr lvl="1">
              <a:buFont typeface="+mj-lt"/>
              <a:buAutoNum type="arabicPeriod"/>
            </a:pPr>
            <a:r>
              <a:rPr lang="en-US" b="1" dirty="0" smtClean="0">
                <a:latin typeface="Times New Roman" panose="02020603050405020304" pitchFamily="18" charset="0"/>
                <a:cs typeface="Times New Roman" panose="02020603050405020304" pitchFamily="18" charset="0"/>
              </a:rPr>
              <a:t> Information </a:t>
            </a:r>
            <a:r>
              <a:rPr lang="en-US" b="1" dirty="0">
                <a:latin typeface="Times New Roman" panose="02020603050405020304" pitchFamily="18" charset="0"/>
                <a:cs typeface="Times New Roman" panose="02020603050405020304" pitchFamily="18" charset="0"/>
              </a:rPr>
              <a:t>Retrieval:</a:t>
            </a:r>
            <a:r>
              <a:rPr lang="en-US" dirty="0">
                <a:latin typeface="Times New Roman" panose="02020603050405020304" pitchFamily="18" charset="0"/>
                <a:cs typeface="Times New Roman" panose="02020603050405020304" pitchFamily="18" charset="0"/>
              </a:rPr>
              <a:t> The query is converted into a vector and compared against our indexed database of the </a:t>
            </a:r>
            <a:r>
              <a:rPr lang="en-US" dirty="0" smtClean="0">
                <a:latin typeface="Times New Roman" panose="02020603050405020304" pitchFamily="18" charset="0"/>
                <a:cs typeface="Times New Roman" panose="02020603050405020304" pitchFamily="18" charset="0"/>
              </a:rPr>
              <a:t>   Constitution</a:t>
            </a:r>
            <a:r>
              <a:rPr lang="en-US" dirty="0">
                <a:latin typeface="Times New Roman" panose="02020603050405020304" pitchFamily="18" charset="0"/>
                <a:cs typeface="Times New Roman" panose="02020603050405020304" pitchFamily="18" charset="0"/>
              </a:rPr>
              <a:t>. The most relevant documents are retrieved.</a:t>
            </a:r>
          </a:p>
          <a:p>
            <a:pPr lvl="1">
              <a:buFont typeface="+mj-lt"/>
              <a:buAutoNum type="arabicPeriod"/>
            </a:pPr>
            <a:r>
              <a:rPr lang="en-US" b="1" dirty="0" smtClean="0">
                <a:latin typeface="Times New Roman" panose="02020603050405020304" pitchFamily="18" charset="0"/>
                <a:cs typeface="Times New Roman" panose="02020603050405020304" pitchFamily="18" charset="0"/>
              </a:rPr>
              <a:t> Response </a:t>
            </a:r>
            <a:r>
              <a:rPr lang="en-US" b="1" dirty="0">
                <a:latin typeface="Times New Roman" panose="02020603050405020304" pitchFamily="18" charset="0"/>
                <a:cs typeface="Times New Roman" panose="02020603050405020304" pitchFamily="18" charset="0"/>
              </a:rPr>
              <a:t>Generation:</a:t>
            </a:r>
            <a:r>
              <a:rPr lang="en-US" dirty="0">
                <a:latin typeface="Times New Roman" panose="02020603050405020304" pitchFamily="18" charset="0"/>
                <a:cs typeface="Times New Roman" panose="02020603050405020304" pitchFamily="18" charset="0"/>
              </a:rPr>
              <a:t> The LLM synthesizes the retrieved information into a clear and concise answer.</a:t>
            </a:r>
          </a:p>
          <a:p>
            <a:pPr lvl="1">
              <a:buFont typeface="+mj-lt"/>
              <a:buAutoNum type="arabicPeriod"/>
            </a:pPr>
            <a:r>
              <a:rPr lang="en-US" b="1" dirty="0" smtClean="0">
                <a:latin typeface="Times New Roman" panose="02020603050405020304" pitchFamily="18" charset="0"/>
                <a:cs typeface="Times New Roman" panose="02020603050405020304" pitchFamily="18" charset="0"/>
              </a:rPr>
              <a:t> Citation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response includes a reference to the specific article or section of the Constitution for verification.</a:t>
            </a: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6" name="Rectangle 5"/>
          <p:cNvSpPr/>
          <p:nvPr/>
        </p:nvSpPr>
        <p:spPr>
          <a:xfrm>
            <a:off x="362858" y="296240"/>
            <a:ext cx="5144165"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Methodology and Algorithms </a:t>
            </a:r>
          </a:p>
        </p:txBody>
      </p:sp>
      <p:cxnSp>
        <p:nvCxnSpPr>
          <p:cNvPr id="8" name="Straight Connector 7"/>
          <p:cNvCxnSpPr/>
          <p:nvPr/>
        </p:nvCxnSpPr>
        <p:spPr>
          <a:xfrm>
            <a:off x="362858" y="881015"/>
            <a:ext cx="93361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Tree>
    <p:extLst>
      <p:ext uri="{BB962C8B-B14F-4D97-AF65-F5344CB8AC3E}">
        <p14:creationId xmlns:p14="http://schemas.microsoft.com/office/powerpoint/2010/main" val="2859101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20</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4" name="Rectangle 3"/>
          <p:cNvSpPr/>
          <p:nvPr/>
        </p:nvSpPr>
        <p:spPr>
          <a:xfrm>
            <a:off x="420915" y="307777"/>
            <a:ext cx="12293600" cy="4524315"/>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2. Interactive Games &amp; </a:t>
            </a:r>
            <a:r>
              <a:rPr lang="en-US" b="1" dirty="0" smtClean="0">
                <a:latin typeface="Times New Roman" panose="02020603050405020304" pitchFamily="18" charset="0"/>
                <a:cs typeface="Times New Roman" panose="02020603050405020304" pitchFamily="18" charset="0"/>
              </a:rPr>
              <a:t>Quizzes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Gamification is used to enhance learning, retention, and user engagement.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Methodology: </a:t>
            </a:r>
            <a:r>
              <a:rPr lang="en-US" b="1" dirty="0" smtClean="0">
                <a:latin typeface="Times New Roman" panose="02020603050405020304" pitchFamily="18" charset="0"/>
                <a:cs typeface="Times New Roman" panose="02020603050405020304" pitchFamily="18" charset="0"/>
              </a:rPr>
              <a:t>Gamification</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Points, badges, and leaderboards are used to motivate users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Immediate feedback helps reinforce learning.</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Quiz Algorithm:</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Question Bank: A structured database holds questions categorized by constitutional article, theme (e.g., Bill of Rights), and difficulty level</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Dynamic </a:t>
            </a:r>
            <a:r>
              <a:rPr lang="en-US" dirty="0">
                <a:latin typeface="Times New Roman" panose="02020603050405020304" pitchFamily="18" charset="0"/>
                <a:cs typeface="Times New Roman" panose="02020603050405020304" pitchFamily="18" charset="0"/>
              </a:rPr>
              <a:t>Selection: A set of questions is randomly selected based on the user's chosen topic and difficulty</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Scoring Logic: The user's score is calculated in real-time. Score = (Correct Answers / Total Questions) * 100</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Instant Feedback: After each answer, the system provides the correct response along with a brief explanation, citing the relevant constitutional text.</a:t>
            </a:r>
          </a:p>
          <a:p>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Tree>
    <p:extLst>
      <p:ext uri="{BB962C8B-B14F-4D97-AF65-F5344CB8AC3E}">
        <p14:creationId xmlns:p14="http://schemas.microsoft.com/office/powerpoint/2010/main" val="1348721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21</a:t>
            </a:fld>
            <a:endParaRPr lang="en-US" dirty="0"/>
          </a:p>
        </p:txBody>
      </p:sp>
      <p:sp>
        <p:nvSpPr>
          <p:cNvPr id="3" name="Rectangle 2"/>
          <p:cNvSpPr/>
          <p:nvPr/>
        </p:nvSpPr>
        <p:spPr>
          <a:xfrm>
            <a:off x="703942" y="831355"/>
            <a:ext cx="10508541" cy="4801314"/>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Example - "Match the Amendment" Game Logic:</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Pairing: A predefined set of key-value pairs (Amendment Number: Description) is loaded.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Randomization: The descriptions and amendment numbers are separated and randomly shuffled into two distinct lists.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Validation: The user's pairings are compared against the original correct data set to determine the score.</a:t>
            </a:r>
            <a:endParaRPr lang="en-IN">
              <a:latin typeface="Times New Roman" panose="02020603050405020304" pitchFamily="18" charset="0"/>
              <a:cs typeface="Times New Roman" panose="02020603050405020304" pitchFamily="18" charset="0"/>
            </a:endParaRPr>
          </a:p>
          <a:p>
            <a:endParaRPr lang="en-US" b="1"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Overall Development </a:t>
            </a:r>
            <a:r>
              <a:rPr lang="en-US" b="1" dirty="0" smtClean="0">
                <a:latin typeface="Times New Roman" panose="02020603050405020304" pitchFamily="18" charset="0"/>
                <a:cs typeface="Times New Roman" panose="02020603050405020304" pitchFamily="18" charset="0"/>
              </a:rPr>
              <a:t>Methodology</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Framework:</a:t>
            </a:r>
            <a:r>
              <a:rPr lang="en-US" dirty="0">
                <a:latin typeface="Times New Roman" panose="02020603050405020304" pitchFamily="18" charset="0"/>
                <a:cs typeface="Times New Roman" panose="02020603050405020304" pitchFamily="18" charset="0"/>
              </a:rPr>
              <a:t> Agile Development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is developed in iterative sprints, allowing for continuous feedback and improvement.</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sprint focuses on a specific feature, such as </a:t>
            </a:r>
            <a:r>
              <a:rPr lang="en-US" dirty="0" err="1">
                <a:latin typeface="Times New Roman" panose="02020603050405020304" pitchFamily="18" charset="0"/>
                <a:cs typeface="Times New Roman" panose="02020603050405020304" pitchFamily="18" charset="0"/>
              </a:rPr>
              <a:t>chatbot</a:t>
            </a:r>
            <a:r>
              <a:rPr lang="en-US" dirty="0">
                <a:latin typeface="Times New Roman" panose="02020603050405020304" pitchFamily="18" charset="0"/>
                <a:cs typeface="Times New Roman" panose="02020603050405020304" pitchFamily="18" charset="0"/>
              </a:rPr>
              <a:t> enhancements or a new game</a:t>
            </a:r>
            <a:r>
              <a:rPr lang="en-US" dirty="0" smtClean="0">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Technology Stack</a:t>
            </a:r>
            <a:r>
              <a:rPr lang="en-US" b="1"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Frontend:</a:t>
            </a:r>
            <a:r>
              <a:rPr lang="en-US" dirty="0">
                <a:latin typeface="Times New Roman" panose="02020603050405020304" pitchFamily="18" charset="0"/>
                <a:cs typeface="Times New Roman" panose="02020603050405020304" pitchFamily="18" charset="0"/>
              </a:rPr>
              <a:t> React for a responsive, component-based user interface.</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Backend:</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Java Spring to </a:t>
            </a:r>
            <a:r>
              <a:rPr lang="en-US" dirty="0">
                <a:latin typeface="Times New Roman" panose="02020603050405020304" pitchFamily="18" charset="0"/>
                <a:cs typeface="Times New Roman" panose="02020603050405020304" pitchFamily="18" charset="0"/>
              </a:rPr>
              <a:t>manage the AI model, game logic, and APIs.</a:t>
            </a:r>
          </a:p>
          <a:p>
            <a:pPr lvl="1">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MySQL for </a:t>
            </a:r>
            <a:r>
              <a:rPr lang="en-US" dirty="0">
                <a:latin typeface="Times New Roman" panose="02020603050405020304" pitchFamily="18" charset="0"/>
                <a:cs typeface="Times New Roman" panose="02020603050405020304" pitchFamily="18" charset="0"/>
              </a:rPr>
              <a:t>storing user progress, quiz questions, and constitutional data.</a:t>
            </a: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Tree>
    <p:extLst>
      <p:ext uri="{BB962C8B-B14F-4D97-AF65-F5344CB8AC3E}">
        <p14:creationId xmlns:p14="http://schemas.microsoft.com/office/powerpoint/2010/main" val="31857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22</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6" name="Rectangle 5"/>
          <p:cNvSpPr/>
          <p:nvPr/>
        </p:nvSpPr>
        <p:spPr>
          <a:xfrm>
            <a:off x="522514" y="603832"/>
            <a:ext cx="2055371"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22514" y="1320800"/>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13" name="Rectangle 12"/>
          <p:cNvSpPr/>
          <p:nvPr/>
        </p:nvSpPr>
        <p:spPr>
          <a:xfrm>
            <a:off x="522514" y="1476290"/>
            <a:ext cx="11466286" cy="4801314"/>
          </a:xfrm>
          <a:prstGeom prst="rect">
            <a:avLst/>
          </a:prstGeom>
        </p:spPr>
        <p:txBody>
          <a:bodyPr wrap="square">
            <a:spAutoFit/>
          </a:bodyPr>
          <a:lstStyle/>
          <a:p>
            <a:r>
              <a:rPr lang="en-US" smtClean="0">
                <a:latin typeface="Times New Roman" panose="02020603050405020304" pitchFamily="18" charset="0"/>
                <a:cs typeface="Times New Roman" panose="02020603050405020304" pitchFamily="18" charset="0"/>
              </a:rPr>
              <a:t>This </a:t>
            </a:r>
            <a:r>
              <a:rPr lang="en-US">
                <a:latin typeface="Times New Roman" panose="02020603050405020304" pitchFamily="18" charset="0"/>
                <a:cs typeface="Times New Roman" panose="02020603050405020304" pitchFamily="18" charset="0"/>
              </a:rPr>
              <a:t>project successfully demonstrates how technology can revolutionize civic education. </a:t>
            </a:r>
            <a:r>
              <a:rPr lang="en-US" dirty="0">
                <a:latin typeface="Times New Roman" panose="02020603050405020304" pitchFamily="18" charset="0"/>
                <a:cs typeface="Times New Roman" panose="02020603050405020304" pitchFamily="18" charset="0"/>
              </a:rPr>
              <a:t>By uniting the foundational text of the Constitution with an intelligent AI assistant and the interactive nature of games, we have created a platform that makes learning not only accessible but also genuinely engaging. This innovative approach demystifies complex legal concepts and fosters a deeper, more lasting understanding of the principles that govern our society, paving the way for a more informed and participatory citizenry</a:t>
            </a:r>
            <a:r>
              <a:rPr lang="en-US" dirty="0" smtClean="0">
                <a:latin typeface="Times New Roman" panose="02020603050405020304" pitchFamily="18" charset="0"/>
                <a:cs typeface="Times New Roman" panose="02020603050405020304" pitchFamily="18" charset="0"/>
              </a:rPr>
              <a:t>.</a:t>
            </a:r>
          </a:p>
          <a:p>
            <a:endParaRPr lang="en-US" dirty="0" smtClean="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Bridging History and Technology: </a:t>
            </a:r>
            <a:r>
              <a:rPr lang="en-US" dirty="0">
                <a:latin typeface="Times New Roman" panose="02020603050405020304" pitchFamily="18" charset="0"/>
                <a:cs typeface="Times New Roman" panose="02020603050405020304" pitchFamily="18" charset="0"/>
              </a:rPr>
              <a:t>We have successfully created a unique platform that fuses the foundational principles of the Constitution with the power of AI and the engagement of gamification.</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AI as a Personal Tutor: </a:t>
            </a:r>
            <a:r>
              <a:rPr lang="en-US" dirty="0">
                <a:latin typeface="Times New Roman" panose="02020603050405020304" pitchFamily="18" charset="0"/>
                <a:cs typeface="Times New Roman" panose="02020603050405020304" pitchFamily="18" charset="0"/>
              </a:rPr>
              <a:t>Our AI assistant demystifies complex legal language, making constitutional knowledge accessible and understandable for learners of all ages and backgrounds.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Gamification for Deeper Learning: </a:t>
            </a:r>
            <a:r>
              <a:rPr lang="en-US" dirty="0">
                <a:latin typeface="Times New Roman" panose="02020603050405020304" pitchFamily="18" charset="0"/>
                <a:cs typeface="Times New Roman" panose="02020603050405020304" pitchFamily="18" charset="0"/>
              </a:rPr>
              <a:t>By transforming constitutional articles and amendments into interactive games, we have proven that learning about civics can be engaging, memorable, and effective.</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Blueprint for Modern Education</a:t>
            </a:r>
            <a:r>
              <a:rPr lang="en-US" dirty="0">
                <a:latin typeface="Times New Roman" panose="02020603050405020304" pitchFamily="18" charset="0"/>
                <a:cs typeface="Times New Roman" panose="02020603050405020304" pitchFamily="18" charset="0"/>
              </a:rPr>
              <a:t>: This project serves as a powerful model for how foundational civic documents can be revitalized for a digital-first generation, fostering a more informed and engaged citizenry.</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801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851390" y="194753"/>
            <a:ext cx="2493010" cy="1122958"/>
          </a:xfrm>
          <a:prstGeom prst="rect">
            <a:avLst/>
          </a:prstGeom>
        </p:spPr>
      </p:pic>
      <p:sp>
        <p:nvSpPr>
          <p:cNvPr id="5" name="Rectangle 4"/>
          <p:cNvSpPr/>
          <p:nvPr/>
        </p:nvSpPr>
        <p:spPr>
          <a:xfrm>
            <a:off x="522514" y="603832"/>
            <a:ext cx="2361544"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2692400"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a:off x="522514" y="1317711"/>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22514" y="1484662"/>
            <a:ext cx="11074400" cy="4524315"/>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Content Expansion: </a:t>
            </a:r>
            <a:r>
              <a:rPr lang="en-IN" dirty="0">
                <a:latin typeface="Times New Roman" panose="02020603050405020304" pitchFamily="18" charset="0"/>
                <a:cs typeface="Times New Roman" panose="02020603050405020304" pitchFamily="18" charset="0"/>
              </a:rPr>
              <a:t>Introduce modules on landmark Supreme Court cases, historical context, and comparisons with global constitutions.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Enhanced AI Capabilities:</a:t>
            </a:r>
            <a:r>
              <a:rPr lang="en-IN" dirty="0">
                <a:latin typeface="Times New Roman" panose="02020603050405020304" pitchFamily="18" charset="0"/>
                <a:cs typeface="Times New Roman" panose="02020603050405020304" pitchFamily="18" charset="0"/>
              </a:rPr>
              <a:t> Develop more advanced AI features, including personalized learning paths based on user performance and Socratic-style debate simulations.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Community &amp; Collaboration: </a:t>
            </a:r>
            <a:r>
              <a:rPr lang="en-IN" dirty="0">
                <a:latin typeface="Times New Roman" panose="02020603050405020304" pitchFamily="18" charset="0"/>
                <a:cs typeface="Times New Roman" panose="02020603050405020304" pitchFamily="18" charset="0"/>
              </a:rPr>
              <a:t>Launch multiplayer games, class </a:t>
            </a:r>
            <a:r>
              <a:rPr lang="en-IN" dirty="0" err="1">
                <a:latin typeface="Times New Roman" panose="02020603050405020304" pitchFamily="18" charset="0"/>
                <a:cs typeface="Times New Roman" panose="02020603050405020304" pitchFamily="18" charset="0"/>
              </a:rPr>
              <a:t>leaderboards</a:t>
            </a:r>
            <a:r>
              <a:rPr lang="en-IN" dirty="0">
                <a:latin typeface="Times New Roman" panose="02020603050405020304" pitchFamily="18" charset="0"/>
                <a:cs typeface="Times New Roman" panose="02020603050405020304" pitchFamily="18" charset="0"/>
              </a:rPr>
              <a:t>, and teacher-focused dashboards to build a collaborative learning community</a:t>
            </a:r>
            <a:r>
              <a:rPr lang="en-IN"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More Content: </a:t>
            </a:r>
            <a:r>
              <a:rPr lang="en-US" dirty="0">
                <a:latin typeface="Times New Roman" panose="02020603050405020304" pitchFamily="18" charset="0"/>
                <a:cs typeface="Times New Roman" panose="02020603050405020304" pitchFamily="18" charset="0"/>
              </a:rPr>
              <a:t>Adding historical case studies and comparing constitutions from other countries.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Team Competitions: </a:t>
            </a:r>
            <a:r>
              <a:rPr lang="en-US" dirty="0">
                <a:latin typeface="Times New Roman" panose="02020603050405020304" pitchFamily="18" charset="0"/>
                <a:cs typeface="Times New Roman" panose="02020603050405020304" pitchFamily="18" charset="0"/>
              </a:rPr>
              <a:t>Introducing multiplayer quizzes, team challenges, and national leaderboards.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Mobile App: </a:t>
            </a:r>
            <a:r>
              <a:rPr lang="en-US" dirty="0">
                <a:latin typeface="Times New Roman" panose="02020603050405020304" pitchFamily="18" charset="0"/>
                <a:cs typeface="Times New Roman" panose="02020603050405020304" pitchFamily="18" charset="0"/>
              </a:rPr>
              <a:t>Launching dedicated apps for Android and iOS for learning anywhere.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More Languages: </a:t>
            </a:r>
            <a:r>
              <a:rPr lang="en-US" dirty="0">
                <a:latin typeface="Times New Roman" panose="02020603050405020304" pitchFamily="18" charset="0"/>
                <a:cs typeface="Times New Roman" panose="02020603050405020304" pitchFamily="18" charset="0"/>
              </a:rPr>
              <a:t>Adding support for various regional languages to reach more users.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9495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FAB73BC-B049-4115-A692-8D63A059BFB8}" type="slidenum">
              <a:rPr lang="en-US" smtClean="0"/>
              <a:t>24</a:t>
            </a:fld>
            <a:endParaRPr lang="en-US" dirty="0"/>
          </a:p>
        </p:txBody>
      </p:sp>
      <p:sp>
        <p:nvSpPr>
          <p:cNvPr id="2" name="Title 1"/>
          <p:cNvSpPr>
            <a:spLocks noGrp="1"/>
          </p:cNvSpPr>
          <p:nvPr>
            <p:ph type="title" idx="4294967295"/>
          </p:nvPr>
        </p:nvSpPr>
        <p:spPr>
          <a:xfrm>
            <a:off x="571500" y="550863"/>
            <a:ext cx="2524125" cy="666750"/>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References </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Rectangle 7"/>
          <p:cNvSpPr/>
          <p:nvPr/>
        </p:nvSpPr>
        <p:spPr>
          <a:xfrm>
            <a:off x="2719826" y="0"/>
            <a:ext cx="6875479" cy="307777"/>
          </a:xfrm>
          <a:prstGeom prst="rect">
            <a:avLst/>
          </a:prstGeom>
        </p:spPr>
        <p:txBody>
          <a:bodyPr wrap="square">
            <a:spAutoFit/>
          </a:bodyPr>
          <a:lstStyle/>
          <a:p>
            <a:r>
              <a:rPr lang="en-IN" sz="1400" b="1" dirty="0" smtClean="0">
                <a:latin typeface="Times New Roman" panose="02020603050405020304" pitchFamily="18" charset="0"/>
                <a:cs typeface="Times New Roman" panose="02020603050405020304" pitchFamily="18" charset="0"/>
              </a:rPr>
              <a:t>Vidhan</a:t>
            </a:r>
            <a:r>
              <a:rPr lang="en-IN" sz="1400" b="1" dirty="0">
                <a:latin typeface="Times New Roman" panose="02020603050405020304" pitchFamily="18" charset="0"/>
                <a:cs typeface="Times New Roman" panose="02020603050405020304" pitchFamily="18" charset="0"/>
              </a:rPr>
              <a:t>: A Gamified Approach to Learning the Indian Constitution with AI Assistance</a:t>
            </a:r>
            <a:r>
              <a:rPr lang="en-IN" sz="1400" b="1" dirty="0" smtClean="0">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p:txBody>
      </p:sp>
      <p:sp>
        <p:nvSpPr>
          <p:cNvPr id="9" name="Rectangle 8"/>
          <p:cNvSpPr/>
          <p:nvPr/>
        </p:nvSpPr>
        <p:spPr>
          <a:xfrm>
            <a:off x="558561" y="1460699"/>
            <a:ext cx="11198010" cy="3416320"/>
          </a:xfrm>
          <a:prstGeom prst="rect">
            <a:avLst/>
          </a:prstGeom>
        </p:spPr>
        <p:txBody>
          <a:bodyPr wrap="square">
            <a:spAutoFit/>
          </a:bodyPr>
          <a:lstStyle/>
          <a:p>
            <a:r>
              <a:rPr lang="en-IN" dirty="0" smtClean="0">
                <a:latin typeface="Times New Roman" panose="02020603050405020304" pitchFamily="18" charset="0"/>
                <a:cs typeface="Times New Roman" panose="02020603050405020304" pitchFamily="18" charset="0"/>
              </a:rPr>
              <a:t>[1].  S</a:t>
            </a:r>
            <a:r>
              <a:rPr lang="en-IN" dirty="0">
                <a:latin typeface="Times New Roman" panose="02020603050405020304" pitchFamily="18" charset="0"/>
                <a:cs typeface="Times New Roman" panose="02020603050405020304" pitchFamily="18" charset="0"/>
              </a:rPr>
              <a:t>. Naveen, M. </a:t>
            </a:r>
            <a:r>
              <a:rPr lang="en-IN" dirty="0" err="1">
                <a:latin typeface="Times New Roman" panose="02020603050405020304" pitchFamily="18" charset="0"/>
                <a:cs typeface="Times New Roman" panose="02020603050405020304" pitchFamily="18" charset="0"/>
              </a:rPr>
              <a:t>Salmaan</a:t>
            </a:r>
            <a:r>
              <a:rPr lang="en-IN" dirty="0">
                <a:latin typeface="Times New Roman" panose="02020603050405020304" pitchFamily="18" charset="0"/>
                <a:cs typeface="Times New Roman" panose="02020603050405020304" pitchFamily="18" charset="0"/>
              </a:rPr>
              <a:t>, and E. </a:t>
            </a:r>
            <a:r>
              <a:rPr lang="en-IN" dirty="0" err="1" smtClean="0">
                <a:latin typeface="Times New Roman" panose="02020603050405020304" pitchFamily="18" charset="0"/>
                <a:cs typeface="Times New Roman" panose="02020603050405020304" pitchFamily="18" charset="0"/>
              </a:rPr>
              <a:t>Sivamuthu</a:t>
            </a:r>
            <a:r>
              <a:rPr lang="en-IN" dirty="0" smtClean="0">
                <a:latin typeface="Times New Roman" panose="02020603050405020304" pitchFamily="18" charset="0"/>
                <a:cs typeface="Times New Roman" panose="02020603050405020304" pitchFamily="18" charset="0"/>
              </a:rPr>
              <a:t>. "Constitution </a:t>
            </a:r>
            <a:r>
              <a:rPr lang="en-IN" dirty="0">
                <a:latin typeface="Times New Roman" panose="02020603050405020304" pitchFamily="18" charset="0"/>
                <a:cs typeface="Times New Roman" panose="02020603050405020304" pitchFamily="18" charset="0"/>
              </a:rPr>
              <a:t>Connect: A Digital Platform for Promoting Constitutional Literacy Using MERN Stack," International Journal of Progressive Research in Engineering Management and Science (IJPREMS), vol. 04, no. 12, pp. 948-952, </a:t>
            </a:r>
            <a:r>
              <a:rPr lang="en-IN" dirty="0" smtClean="0">
                <a:latin typeface="Times New Roman" panose="02020603050405020304" pitchFamily="18" charset="0"/>
                <a:cs typeface="Times New Roman" panose="02020603050405020304" pitchFamily="18" charset="0"/>
              </a:rPr>
              <a:t>[Year - 2024]</a:t>
            </a:r>
          </a:p>
          <a:p>
            <a:endParaRPr lang="en-IN"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W. S. Fernando, M. </a:t>
            </a:r>
            <a:r>
              <a:rPr lang="en-US" dirty="0" err="1">
                <a:latin typeface="Times New Roman" panose="02020603050405020304" pitchFamily="18" charset="0"/>
                <a:cs typeface="Times New Roman" panose="02020603050405020304" pitchFamily="18" charset="0"/>
              </a:rPr>
              <a:t>Handapangoda</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Gamage</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Samindi</a:t>
            </a:r>
            <a:r>
              <a:rPr lang="en-US" dirty="0">
                <a:latin typeface="Times New Roman" panose="02020603050405020304" pitchFamily="18" charset="0"/>
                <a:cs typeface="Times New Roman" panose="02020603050405020304" pitchFamily="18" charset="0"/>
              </a:rPr>
              <a:t>, and D. </a:t>
            </a:r>
            <a:r>
              <a:rPr lang="en-US" dirty="0" err="1">
                <a:latin typeface="Times New Roman" panose="02020603050405020304" pitchFamily="18" charset="0"/>
                <a:cs typeface="Times New Roman" panose="02020603050405020304" pitchFamily="18" charset="0"/>
              </a:rPr>
              <a:t>Alwis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LawKey</a:t>
            </a:r>
            <a:r>
              <a:rPr lang="en-US" dirty="0">
                <a:latin typeface="Times New Roman" panose="02020603050405020304" pitchFamily="18" charset="0"/>
                <a:cs typeface="Times New Roman" panose="02020603050405020304" pitchFamily="18" charset="0"/>
              </a:rPr>
              <a:t> - Law Constitution </a:t>
            </a:r>
            <a:r>
              <a:rPr lang="en-US" dirty="0" err="1">
                <a:latin typeface="Times New Roman" panose="02020603050405020304" pitchFamily="18" charset="0"/>
                <a:cs typeface="Times New Roman" panose="02020603050405020304" pitchFamily="18" charset="0"/>
              </a:rPr>
              <a:t>Chatbot</a:t>
            </a:r>
            <a:r>
              <a:rPr lang="en-US" dirty="0">
                <a:latin typeface="Times New Roman" panose="02020603050405020304" pitchFamily="18" charset="0"/>
                <a:cs typeface="Times New Roman" panose="02020603050405020304" pitchFamily="18" charset="0"/>
              </a:rPr>
              <a:t>," in 2024 8th SLAAI International Conference on Artificial Intelligence (SLAAI-ICAI),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10.1109/SLAAI-ICAI63667.2024.10844946. [Year - 2024]</a:t>
            </a: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P. </a:t>
            </a:r>
            <a:r>
              <a:rPr lang="en-US" dirty="0" err="1">
                <a:latin typeface="Times New Roman" panose="02020603050405020304" pitchFamily="18" charset="0"/>
                <a:cs typeface="Times New Roman" panose="02020603050405020304" pitchFamily="18" charset="0"/>
              </a:rPr>
              <a:t>Halachev</a:t>
            </a:r>
            <a:r>
              <a:rPr lang="en-US" dirty="0">
                <a:latin typeface="Times New Roman" panose="02020603050405020304" pitchFamily="18" charset="0"/>
                <a:cs typeface="Times New Roman" panose="02020603050405020304" pitchFamily="18" charset="0"/>
              </a:rPr>
              <a:t>, PhD in Informatics and Computer Science, Assistant Professor, Department of Informatics, University of Chemical Technology and Metallurgy, Sofia, Bulgaria "Gamification as an e-learning tool: A Literature Review," E-Learning Innovations Journal, vol. 2, no. 2, pp. 4-20,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10.57125/ELIJ.2024.09.25.01</a:t>
            </a:r>
            <a:r>
              <a:rPr lang="en-US" dirty="0" smtClean="0">
                <a:latin typeface="Times New Roman" panose="02020603050405020304" pitchFamily="18" charset="0"/>
                <a:cs typeface="Times New Roman" panose="02020603050405020304" pitchFamily="18" charset="0"/>
              </a:rPr>
              <a:t>. [Year – 2024]</a:t>
            </a:r>
          </a:p>
          <a:p>
            <a:endParaRPr lang="en-US"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a:off x="522514" y="1317711"/>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49460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1250</TotalTime>
  <Words>3112</Words>
  <Application>Microsoft Office PowerPoint</Application>
  <PresentationFormat>Widescreen</PresentationFormat>
  <Paragraphs>311</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Courier New</vt:lpstr>
      <vt:lpstr>Times New Roman</vt:lpstr>
      <vt:lpstr>Retrospect</vt:lpstr>
      <vt:lpstr>PowerPoint Presentation</vt:lpstr>
      <vt:lpstr>PowerPoint Presentation</vt:lpstr>
      <vt:lpstr>Motivation </vt:lpstr>
      <vt:lpstr>PowerPoint Presentation</vt:lpstr>
      <vt:lpstr>Aim and Objectives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72</cp:revision>
  <dcterms:created xsi:type="dcterms:W3CDTF">2024-09-22T20:04:35Z</dcterms:created>
  <dcterms:modified xsi:type="dcterms:W3CDTF">2025-11-11T13:55:23Z</dcterms:modified>
</cp:coreProperties>
</file>